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accueillez le jury et présentez l’intitulé du projet, votre nom et votre encadrant.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pourquoi le contexte africain appelle une plateforme unifiée.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la triple distribution : web PWA, mobile native et l’API commune.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continuité : l’utilisateur ne quitte jamais l’écosystème.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Décrire le routage HTTPS, la scalabilité horizontale des backends et la persistance.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ces choix : rapidité, langage partagé, écosystème et alignement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que tout tourne autour de l’utilisateur, avec intégrité transactionnelle où il le 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Lister vite les briques disponibles dans le projet et insister sur le proxy média avec liste blanche.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Préciser : le chat transite par le backend ; le flux vidéo live est géré côté Agora (P2P / SFU selon config).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Évoquer la CI (contraintes PR, tests, audits) et le déploiement conteneurisé.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survendre l’IA : bilan factuel aujourd’hui, roadmap crédible demain.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chaque difficulté aux apprentissages concrets (réseau, ORM, double client).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utiliser avec Affichage &gt; Notes ou mode Présentateur.</a:t>
            </a:r>
          </a:p>
          <a:p>
            <a:r>
              <a:t>Tu peux passer ces diapos en répétition sans exposer le texte sur le mur.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 document : Mémoire audit soutenance (complet)</a:t>
            </a:r>
          </a:p>
          <a:p>
            <a:r>
              <a:t>Fichier : C:\Users\Hp\Downloads\AfriWonder\docs\soutenance\MEMOIRE_AUDIT_SOUTENANCE_COMPLET.md</a:t>
            </a:r>
          </a:p>
          <a:p/>
          <a:p>
            <a:r>
              <a:t>(Ouvre les diapos suivantes avec le panneau Notes.)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</a:t>
            </a:r>
          </a:p>
          <a:p>
            <a:r>
              <a:t>Source : MEMOIRE_AUDIT_SOUTENANCE_COMPLET.md</a:t>
            </a:r>
          </a:p>
          <a:p/>
          <a:p>
            <a:r>
              <a:t>## AfriWonder — Mémoire d’audit technique &amp; préparation soutenance</a:t>
            </a:r>
          </a:p>
          <a:p/>
          <a:p>
            <a:r>
              <a:t>**Étudiant :** Abdoulaye Fanel  </a:t>
            </a:r>
          </a:p>
          <a:p>
            <a:r>
              <a:t>**Encadrant :** Professeur Hamza Kalfi  </a:t>
            </a:r>
          </a:p>
          <a:p/>
          <a:p>
            <a:r>
              <a:t>**Document :** audit niveau école d’ingénieur / jury technique strict — fondé sur le **code et configurations réelles** du dépôt `AfriWonder`.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</a:t>
            </a:r>
          </a:p>
          <a:p>
            <a:r>
              <a:t>Source : MEMOIRE_AUDIT_SOUTENANCE_COMPLET.md</a:t>
            </a:r>
          </a:p>
          <a:p/>
          <a:p>
            <a:r>
              <a:t>## Méthodologie &amp; limites (honêteté méthodologique)</a:t>
            </a:r>
          </a:p>
          <a:p/>
          <a:p>
            <a:r>
              <a:t>**Ce qui a été analysé de façon exhaustive (échantillon représentatif vérifiable)**  </a:t>
            </a:r>
          </a:p>
          <a:p/>
          <a:p>
            <a:r>
              <a:t>- Racine : `package.json`, `vite.config.js`, `src/App.jsx`  </a:t>
            </a:r>
          </a:p>
          <a:p>
            <a:r>
              <a:t>- Mobile : `frontend/package.json`, point d’entrée Expo (`frontend/package.json` → `expo-router`)  </a:t>
            </a:r>
          </a:p>
          <a:p>
            <a:r>
              <a:t>- Backend : `backend/package.json`, `backend/src/app.ts` (liste des routeurs montés), `backend/src/index.ts` (HTTP + Socket.IO + jobs), échantillon `middleware`, `routes`  </a:t>
            </a:r>
          </a:p>
          <a:p>
            <a:r>
              <a:t>- Données : `backend/prisma/schema.prisma` (entête + début modèle `User`; dénombrement des `model`)  </a:t>
            </a:r>
          </a:p>
          <a:p>
            <a:r>
              <a:t>- DevOps : `.github/workflows/ci.yml`, `docker-compose.prod.yml`  </a:t>
            </a:r>
          </a:p>
          <a:p>
            <a:r>
              <a:t>- IA : `backend/src/services/assistant.service.ts`, `backend/src/routes/ai.routes.ts`, `backend/src/services/aiEngine.service.ts`, `backend/src/services/liveStt.service.ts`, grep `openai`  </a:t>
            </a:r>
          </a:p>
          <a:p/>
          <a:p>
            <a:r>
              <a:t>**Ce qui n’a pas été lu intégralement**  </a:t>
            </a:r>
          </a:p>
          <a:p/>
          <a:p>
            <a:r>
              <a:t>- L’intégralité des **~133 fichiers** `backend/src/routes/*.ts` ligne par ligne  </a:t>
            </a:r>
          </a:p>
          <a:p>
            <a:r>
              <a:t>- L’intégralité du fichier **Prisma** (&gt; 6000 lignes) — le décompte `^model ` donne **100 modèles** dans ce dépôt  </a:t>
            </a:r>
          </a:p>
          <a:p/>
          <a:p>
            <a:r>
              <a:t>Toute affirmation non sourcée ci-dessous doit être présentée au jury avec cette nuance : « *constat sur échantillon + dépendances ; détail par module = fichier X* ».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</a:t>
            </a:r>
          </a:p>
          <a:p>
            <a:r>
              <a:t>Source : MEMOIRE_AUDIT_SOUTENANCE_COMPLET.md</a:t>
            </a:r>
          </a:p>
          <a:p/>
          <a:p>
            <a:r>
              <a:t>## 1. Présentation générale du projet</a:t>
            </a:r>
          </a:p>
          <a:p/>
          <a:p>
            <a:r>
              <a:t>| Élément | Contenu (appuyé sur le dépôt) |</a:t>
            </a:r>
          </a:p>
          <a:p>
            <a:r>
              <a:t>|--------|--------------------------------|</a:t>
            </a:r>
          </a:p>
          <a:p>
            <a:r>
              <a:t>| **Nom** | **AfriWonder** — paquets `afriwonder-app` (racine PWA) et `afriwonder-backend` |</a:t>
            </a:r>
          </a:p>
          <a:p>
            <a:r>
              <a:t>| **Objectif** | Plateforme **multi-domaines** (« super-app ») : social vidéo, marketplace, services, messagerie, lives, wallet/paiements, modules verticaux (transport, santé, etc.) |</a:t>
            </a:r>
          </a:p>
          <a:p>
            <a:r>
              <a:t>| **Problématique** | Éviter l’**éclatement** des usages (plusieurs apps / backends) ; unifier l’**identité** et les **transactions** sous contraintes réseau (cible documentée dans `AGENTS.md` : Mali → Afrique) |</a:t>
            </a:r>
          </a:p>
          <a:p>
            <a:r>
              <a:t>| **Contexte** | Monorepo : **PWA Vite** à la racine `src/`, **API Express** dans `backend/`, **Expo** dans `frontend/`, scripts `verify:*` et CI |</a:t>
            </a:r>
          </a:p>
          <a:p>
            <a:r>
              <a:t>| **Public** | Grand public, créateurs, vendeurs/prestataires, administration |</a:t>
            </a:r>
          </a:p>
          <a:p>
            <a:r>
              <a:t>| **Cas d’usage** | Auth JWT, feed, boutique (produits, panier, commandes), paiements (Stripe + scripts webhooks OM/Stripe), messages temps réel (Socket.IO), lives, traduction (`translate.routes.ts`), bots (`chatbot.routes.ts`), etc. |</a:t>
            </a:r>
          </a:p>
          <a:p>
            <a:r>
              <a:t>| **Utilité** | Réduire fragmentation produit technique ; mutualiser middlewares, données, paiements |</a:t>
            </a:r>
          </a:p>
          <a:p>
            <a:r>
              <a:t>| **Valeur ajoutée** | **Triple client** pour une même API ; **qualité formalisée** (gates CI, budgets PR ≤400 lignes) |</a:t>
            </a:r>
          </a:p>
          <a:p>
            <a:r>
              <a:t>| **Différence** | Schéma **PostgreSQL très riche** via Prisma (≈ **100** modèles) — conception **relationnelle** et **hub User**, vs application niche mono-table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</a:t>
            </a:r>
          </a:p>
          <a:p>
            <a:r>
              <a:t>Source : MEMOIRE_AUDIT_SOUTENANCE_COMPLET.md</a:t>
            </a:r>
          </a:p>
          <a:p/>
          <a:p>
            <a:r>
              <a:t>## 2. Analyse fonctionnelle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</a:t>
            </a:r>
          </a:p>
          <a:p>
            <a:r>
              <a:t>Source : MEMOIRE_AUDIT_SOUTENANCE_COMPLET.md</a:t>
            </a:r>
          </a:p>
          <a:p/>
          <a:p>
            <a:r>
              <a:t>## 2.1 Fonctionnalités principales / secondaires</a:t>
            </a:r>
          </a:p>
          <a:p/>
          <a:p>
            <a:r>
              <a:t>**Principales** (routes visibles dans `backend/src/app.ts`) : auth, vidéos, commentaires, users, marketplace (products, cart, orders, payments, reviews, wallet…), messaging, notifications, feed, ads, wallet/coins, live, stories, uploads, moderation, search, creators, marketplace services (bookings…), nombreux modules « super-app » (rides, food, bills, appointments, properties, insurance, etc.).</a:t>
            </a:r>
          </a:p>
          <a:p/>
          <a:p>
            <a:r>
              <a:t>**Secondaires / transverses** : traduction, chatbot listing, proxies média, analytics, légal/pages publiques, tontines, bus/hôtels, news, développeurs/mini-apps,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</a:t>
            </a:r>
          </a:p>
          <a:p>
            <a:r>
              <a:t>Source : MEMOIRE_AUDIT_SOUTENANCE_COMPLET.md</a:t>
            </a:r>
          </a:p>
          <a:p/>
          <a:p>
            <a:r>
              <a:t>## 2.2 Workflow utilisateur (macro)</a:t>
            </a:r>
          </a:p>
          <a:p/>
          <a:p>
            <a:r>
              <a:t>Voir schéma **§18.2** ; typiquement : découverte (guest/partiel selon routes PWA dans `src/App.jsx`) → inscription/login → navigation feed/market/services → interactions (like, chat, commande) → wallet/paiement → fidélisation.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</a:t>
            </a:r>
          </a:p>
          <a:p>
            <a:r>
              <a:t>Source : MEMOIRE_AUDIT_SOUTENANCE_COMPLET.md</a:t>
            </a:r>
          </a:p>
          <a:p/>
          <a:p>
            <a:r>
              <a:t>## 2.3 Permissions / rôles</a:t>
            </a:r>
          </a:p>
          <a:p/>
          <a:p>
            <a:r>
              <a:t>Modèle `User` : champ `role` (défaut `user`), flags `account_suspended`, `shadow_banned`, etc. (`schema.prisma` lignes observées).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</a:t>
            </a:r>
          </a:p>
          <a:p>
            <a:r>
              <a:t>Source : MEMOIRE_AUDIT_SOUTENANCE_COMPLET.md</a:t>
            </a:r>
          </a:p>
          <a:p/>
          <a:p>
            <a:r>
              <a:t>## 2.4 Erreurs &amp; cas limites</a:t>
            </a:r>
          </a:p>
          <a:p/>
          <a:p>
            <a:r>
              <a:t>- Express : `errorHandler`, `next(e)` depuis routes (`app.ts`)  </a:t>
            </a:r>
          </a:p>
          <a:p>
            <a:r>
              <a:t>- CORS avec **credentials** : origines strictes dans `app.ts` (commentaire critique sur previews Vercel)  </a:t>
            </a:r>
          </a:p>
          <a:p>
            <a:r>
              <a:t>- Auth : Bearer + cookies (à détailler en Q&amp;R via `middleware/auth.ts`)  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</a:t>
            </a:r>
          </a:p>
          <a:p>
            <a:r>
              <a:t>Source : MEMOIRE_AUDIT_SOUTENANCE_COMPLET.md</a:t>
            </a:r>
          </a:p>
          <a:p/>
          <a:p>
            <a:r>
              <a:t>## 3. Architecture complète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</a:t>
            </a:r>
          </a:p>
          <a:p>
            <a:r>
              <a:t>Source : MEMOIRE_AUDIT_SOUTENANCE_COMPLET.md</a:t>
            </a:r>
          </a:p>
          <a:p/>
          <a:p>
            <a:r>
              <a:t>## 3.1 Vue globale (logique)</a:t>
            </a:r>
          </a:p>
          <a:p/>
          <a:p>
            <a:r>
              <a:t>```mermaid</a:t>
            </a:r>
          </a:p>
          <a:p>
            <a:r>
              <a:t>flowchart LR</a:t>
            </a:r>
          </a:p>
          <a:p>
            <a:r>
              <a:t>  subgraph Clients</a:t>
            </a:r>
          </a:p>
          <a:p>
            <a:r>
              <a:t>    PWA[PWA Vite React — src/]</a:t>
            </a:r>
          </a:p>
          <a:p>
            <a:r>
              <a:t>    M[Expo RN — frontend/]</a:t>
            </a:r>
          </a:p>
          <a:p>
            <a:r>
              <a:t>  end</a:t>
            </a:r>
          </a:p>
          <a:p/>
          <a:p>
            <a:r>
              <a:t>  subgraph API["Backend Node Express"]</a:t>
            </a:r>
          </a:p>
          <a:p>
            <a:r>
              <a:t>    MW[Middlewares sécu / perf]</a:t>
            </a:r>
          </a:p>
          <a:p>
            <a:r>
              <a:t>    RT[Routes *.routes.ts]</a:t>
            </a:r>
          </a:p>
          <a:p>
            <a:r>
              <a:t>    ZOD[Validation Zod]</a:t>
            </a:r>
          </a:p>
          <a:p>
            <a:r>
              <a:t>    SVC[services/*.service.ts]</a:t>
            </a:r>
          </a:p>
          <a:p>
            <a:r>
              <a:t>    IO[Socket.IO — index.ts]</a:t>
            </a:r>
          </a:p>
          <a:p>
            <a:r>
              <a:t>  end</a:t>
            </a:r>
          </a:p>
          <a:p/>
          <a:p>
            <a:r>
              <a:t>  DB[(PostgreSQL)]</a:t>
            </a:r>
          </a:p>
          <a:p>
            <a:r>
              <a:t>  REDIS[(Redis optionnel)]</a:t>
            </a:r>
          </a:p>
          <a:p/>
          <a:p>
            <a:r>
              <a:t>  PWA &lt;--&gt;|HTTPS REST + WS client| RT</a:t>
            </a:r>
          </a:p>
          <a:p>
            <a:r>
              <a:t>  M &lt;--&gt;|HTTPS REST + WS client| RT</a:t>
            </a:r>
          </a:p>
          <a:p>
            <a:r>
              <a:t>  RT --&gt; MW</a:t>
            </a:r>
          </a:p>
          <a:p>
            <a:r>
              <a:t>  MW --&gt; ZOD --&gt; SVC</a:t>
            </a:r>
          </a:p>
          <a:p>
            <a:r>
              <a:t>  SVC --&gt; DB</a:t>
            </a:r>
          </a:p>
          <a:p>
            <a:r>
              <a:t>  IO --- REDIS</a:t>
            </a:r>
          </a:p>
          <a:p>
            <a:r>
              <a:t>  SVC --- REDIS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n°13</a:t>
            </a:r>
          </a:p>
          <a:p>
            <a:r>
              <a:t>Source : MEMOIRE_AUDIT_SOUTENANCE_COMPLET.md</a:t>
            </a:r>
          </a:p>
          <a:p/>
          <a:p>
            <a:r>
              <a:t>## 3.2 Communication entre couches</a:t>
            </a:r>
          </a:p>
          <a:p/>
          <a:p>
            <a:r>
              <a:t>- **REST + WebSocket client** (`socket.io-client` côté PWA/mobile ; `socket.io` serveur dans `index.ts`)  </a:t>
            </a:r>
          </a:p>
          <a:p>
            <a:r>
              <a:t>- **Persistance** : Prisma `@prisma/client` + PostgreSQL (`@prisma/adapter-pg`)  </a:t>
            </a:r>
          </a:p>
          <a:p>
            <a:r>
              <a:t>- **Cache / rate-limit distribué** : Redis optionnel (`optionalDependencies.redis`, `rate-limit-redis`, `@socket.io/redis-adapter`)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n°14</a:t>
            </a:r>
          </a:p>
          <a:p>
            <a:r>
              <a:t>Source : MEMOIRE_AUDIT_SOUTENANCE_COMPLET.md</a:t>
            </a:r>
          </a:p>
          <a:p/>
          <a:p>
            <a:r>
              <a:t>## 3.3 Patterns &amp; séparation des responsabilités</a:t>
            </a:r>
          </a:p>
          <a:p/>
          <a:p>
            <a:r>
              <a:t>| Pattern | Observation dans le dépôt |</a:t>
            </a:r>
          </a:p>
          <a:p>
            <a:r>
              <a:t>|---------|---------------------------|</a:t>
            </a:r>
          </a:p>
          <a:p>
            <a:r>
              <a:t>| **Layered architecture** | `routes` → (`validateBody`/Zod) → `services` → Prisma |</a:t>
            </a:r>
          </a:p>
          <a:p>
            <a:r>
              <a:t>| **Middleware chain** | Helmets, CSRF/sanitize dédiés, rate limits segmentés dans `app.ts` |</a:t>
            </a:r>
          </a:p>
          <a:p>
            <a:r>
              <a:t>| **Pub/sub temps réel** | Événements Socket.IO orchestrés depuis `index.ts` + services (ex. messaging) |</a:t>
            </a:r>
          </a:p>
          <a:p>
            <a:r>
              <a:t>| **Repository-like** | Prisma comme abstraction — pas une couche Repository explicite partout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n°15</a:t>
            </a:r>
          </a:p>
          <a:p>
            <a:r>
              <a:t>Source : MEMOIRE_AUDIT_SOUTENANCE_COMPLET.md</a:t>
            </a:r>
          </a:p>
          <a:p/>
          <a:p>
            <a:r>
              <a:t>## 3.4 Pourquoi cette architecture ? Avantages / limites / alternatives</a:t>
            </a:r>
          </a:p>
          <a:p/>
          <a:p>
            <a:r>
              <a:t>| Pour | Contre | Alternatives écartées (typiques) |</a:t>
            </a:r>
          </a:p>
          <a:p>
            <a:r>
              <a:t>|------|--------|----------------------------------|</a:t>
            </a:r>
          </a:p>
          <a:p>
            <a:r>
              <a:t>| Une stack JS/TS de bout en bout | Monolithe API dense | Microservices (complexité Ops) |</a:t>
            </a:r>
          </a:p>
          <a:p>
            <a:r>
              <a:t>| Express simple à déployer | Couplage modulaire via schéma partagé | GraphQL (surface REST déjà massive) |</a:t>
            </a:r>
          </a:p>
          <a:p>
            <a:r>
              <a:t>| Prisma migrations + DX | Temps generate client sur gros schéma | SQL brut (perte DX) |</a:t>
            </a:r>
          </a:p>
          <a:p/>
          <a:p>
            <a:r>
              <a:t>**Fichiers clés citables au jury :** `backend/src/app.ts`, `backend/src/index.ts`, `backend/prisma/schema.prisma`.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n°16</a:t>
            </a:r>
          </a:p>
          <a:p>
            <a:r>
              <a:t>Source : MEMOIRE_AUDIT_SOUTENANCE_COMPLET.md</a:t>
            </a:r>
          </a:p>
          <a:p/>
          <a:p>
            <a:r>
              <a:t>## 4. Analyse frontend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n°17</a:t>
            </a:r>
          </a:p>
          <a:p>
            <a:r>
              <a:t>Source : MEMOIRE_AUDIT_SOUTENANCE_COMPLET.md</a:t>
            </a:r>
          </a:p>
          <a:p/>
          <a:p>
            <a:r>
              <a:t>## 4.1 PWA (racine du repo — **pas Next.js**)</a:t>
            </a:r>
          </a:p>
          <a:p/>
          <a:p>
            <a:r>
              <a:t>| Sujet | Réalité dépôt |</a:t>
            </a:r>
          </a:p>
          <a:p>
            <a:r>
              <a:t>|-------|----------------|</a:t>
            </a:r>
          </a:p>
          <a:p>
            <a:r>
              <a:t>| Build | **Vite** (`vite.config.js`) |</a:t>
            </a:r>
          </a:p>
          <a:p>
            <a:r>
              <a:t>| UI | React 18 (`package.json`), **Tailwind**, **Radix** |</a:t>
            </a:r>
          </a:p>
          <a:p>
            <a:r>
              <a:t>| Routing | **react-router-dom** + `pages.config.glob` (**lazy**) dans `src/App.jsx` |</a:t>
            </a:r>
          </a:p>
          <a:p>
            <a:r>
              <a:t>| État données | **TanStack Query** + persistence (`PersistQueryClientProvider`) |</a:t>
            </a:r>
          </a:p>
          <a:p>
            <a:r>
              <a:t>| Auth | `AuthContext`, tokens via `secureTokenStorage` |</a:t>
            </a:r>
          </a:p>
          <a:p>
            <a:r>
              <a:t>| Temps réel | `MessageSocketContext` avec userId |</a:t>
            </a:r>
          </a:p>
          <a:p>
            <a:r>
              <a:t>| Feature flags | `FeatureFlagsProvider` |</a:t>
            </a:r>
          </a:p>
          <a:p>
            <a:r>
              <a:t>| Sécu contenu | **DOMPurify** (dep racine) |</a:t>
            </a:r>
          </a:p>
          <a:p>
            <a:r>
              <a:t>| PWA | `vite-plugin-pwa` (+ scripts `verify-pwa`) |</a:t>
            </a:r>
          </a:p>
          <a:p/>
          <a:p>
            <a:r>
              <a:t>**Pourquoi pas Next.js ?** Le projet utilise **explicitement Vite** ; dire « Next » au jury serait une **erreur de maîtrise**.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n°18</a:t>
            </a:r>
          </a:p>
          <a:p>
            <a:r>
              <a:t>Source : MEMOIRE_AUDIT_SOUTENANCE_COMPLET.md</a:t>
            </a:r>
          </a:p>
          <a:p/>
          <a:p>
            <a:r>
              <a:t>## 4.2 Mobile (**Expo**)</a:t>
            </a:r>
          </a:p>
          <a:p/>
          <a:p>
            <a:r>
              <a:t>| Techno | Référence |</a:t>
            </a:r>
          </a:p>
          <a:p>
            <a:r>
              <a:t>|--------|-----------|</a:t>
            </a:r>
          </a:p>
          <a:p>
            <a:r>
              <a:t>| Expo | ~54 (`frontend/package.json`) |</a:t>
            </a:r>
          </a:p>
          <a:p>
            <a:r>
              <a:t>| Routing | **expo-router** |</a:t>
            </a:r>
          </a:p>
          <a:p>
            <a:r>
              <a:t>| React / RN | React 19.1 / RN 0.81 |</a:t>
            </a:r>
          </a:p>
          <a:p>
            <a:r>
              <a:t>| Fetch / API | Axios + TanStack Query |</a:t>
            </a:r>
          </a:p>
          <a:p>
            <a:r>
              <a:t>| État global | **Zustand** |</a:t>
            </a:r>
          </a:p>
          <a:p>
            <a:r>
              <a:t>| Médias / live | `expo-av`, `expo-video`, **react-native-agora**, WebRTC deps |</a:t>
            </a:r>
          </a:p>
          <a:p>
            <a:r>
              <a:t>| Stockage sensible | **expo-secure-store**, **expo-sqlite** présent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n°19</a:t>
            </a:r>
          </a:p>
          <a:p>
            <a:r>
              <a:t>Source : MEMOIRE_AUDIT_SOUTENANCE_COMPLET.md</a:t>
            </a:r>
          </a:p>
          <a:p/>
          <a:p>
            <a:r>
              <a:t>## 4.3 Choix résumés (alternative)</a:t>
            </a:r>
          </a:p>
          <a:p/>
          <a:p>
            <a:r>
              <a:t>| Choix | Pour | Alternative |</a:t>
            </a:r>
          </a:p>
          <a:p>
            <a:r>
              <a:t>|-------|------|-------------|</a:t>
            </a:r>
          </a:p>
          <a:p>
            <a:r>
              <a:t>| React | Écosystem + RN partagé mental model | Vue/Svelte |</a:t>
            </a:r>
          </a:p>
          <a:p>
            <a:r>
              <a:t>| TanStack Query | Cache, retries, clés stable | Redux seul sans couche fetch |</a:t>
            </a:r>
          </a:p>
          <a:p>
            <a:r>
              <a:t>| Zustand mobile | léger | Redux toolkit |</a:t>
            </a:r>
          </a:p>
          <a:p>
            <a:r>
              <a:t>| Vite vs Next | SPA + contrôle bundle PWA ; déjà outillé | Next si SSR/ISR requis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n°20</a:t>
            </a:r>
          </a:p>
          <a:p>
            <a:r>
              <a:t>Source : MEMOIRE_AUDIT_SOUTENANCE_COMPLET.md</a:t>
            </a:r>
          </a:p>
          <a:p/>
          <a:p>
            <a:r>
              <a:t>## 5. Analyse backend</a:t>
            </a:r>
          </a:p>
          <a:p/>
          <a:p>
            <a:r>
              <a:t>| Aspect | Implémentation (package + code) |</a:t>
            </a:r>
          </a:p>
          <a:p>
            <a:r>
              <a:t>|--------|----------------------------------|</a:t>
            </a:r>
          </a:p>
          <a:p>
            <a:r>
              <a:t>| Runtime | Node **≥ 20.19** (engines backend) |</a:t>
            </a:r>
          </a:p>
          <a:p>
            <a:r>
              <a:t>| Framework | **Express 4** |</a:t>
            </a:r>
          </a:p>
          <a:p>
            <a:r>
              <a:t>| Validation | **Zod** (`zodValidation`) |</a:t>
            </a:r>
          </a:p>
          <a:p>
            <a:r>
              <a:t>| Auth | **JWT** (`jsonwebtoken`, `jose`), refresh (routes auth à citer oral) |</a:t>
            </a:r>
          </a:p>
          <a:p>
            <a:r>
              <a:t>| Upload / image | Multer + **Sharp** |</a:t>
            </a:r>
          </a:p>
          <a:p>
            <a:r>
              <a:t>| Temps réel | **socket.io** + adapter Redis pour scale |</a:t>
            </a:r>
          </a:p>
          <a:p>
            <a:r>
              <a:t>| Paiements | **Stripe**, webhooks tests dédiés Orange Money / Stripe scripts |</a:t>
            </a:r>
          </a:p>
          <a:p>
            <a:r>
              <a:t>| Observabilité | **Sentry** Node/Profiling, Prometheus exposition (`middleware/observability`, `prometheusMetrics.service`) |</a:t>
            </a:r>
          </a:p>
          <a:p>
            <a:r>
              <a:t>| Stockage objet | `@aws-sdk/client-s3`, presigner |</a:t>
            </a:r>
          </a:p>
          <a:p>
            <a:r>
              <a:t>| Autres | Swagger UI, firebase-admin optionnel usages, nodemailer/resend |</a:t>
            </a:r>
          </a:p>
          <a:p/>
          <a:p>
            <a:r>
              <a:t>**Nombre de routeurs TypeScript dans `backend/src/routes`** : ordre grandeur **133** fichiers `.ts` (glob outil IDE) — reflète surface API énorme.</a:t>
            </a:r>
          </a:p>
          <a:p/>
          <a:p>
            <a:r>
              <a:t>**Pas de dossier `controllers` séparé classique MVC** — logique dominante dans **`services`** + fichiers **`routes`** (pattern Express courant).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n°21</a:t>
            </a:r>
          </a:p>
          <a:p>
            <a:r>
              <a:t>Source : MEMOIRE_AUDIT_SOUTENANCE_COMPLET.md</a:t>
            </a:r>
          </a:p>
          <a:p/>
          <a:p>
            <a:r>
              <a:t>## 6. Base de données</a:t>
            </a:r>
          </a:p>
          <a:p/>
          <a:p>
            <a:r>
              <a:t>| Élément | Fait vérifiable |</a:t>
            </a:r>
          </a:p>
          <a:p>
            <a:r>
              <a:t>|---------|----------------|</a:t>
            </a:r>
          </a:p>
          <a:p>
            <a:r>
              <a:t>| Moteur | **PostgreSQL** (`datasource db` Prisma) |</a:t>
            </a:r>
          </a:p>
          <a:p>
            <a:r>
              <a:t>| ORM | **Prisma 7.8** |</a:t>
            </a:r>
          </a:p>
          <a:p>
            <a:r>
              <a:t>| Nb modèles | **100** (`grep ^model schema.prisma` sur ce checkout) |</a:t>
            </a:r>
          </a:p>
          <a:p>
            <a:r>
              <a:t>| User pivot | Relation massive vers dizaines de domaines (extrait lignes `User` dans `schema.prisma`) |</a:t>
            </a:r>
          </a:p>
          <a:p/>
          <a:p>
            <a:r>
              <a:t>**Pourquoi SQL relationnel ?** Intégrité pour **wallet/commandes/transactions**, contraintes,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n°22</a:t>
            </a:r>
          </a:p>
          <a:p>
            <a:r>
              <a:t>Source : MEMOIRE_AUDIT_SOUTENANCE_COMPLET.md</a:t>
            </a:r>
          </a:p>
          <a:p/>
          <a:p>
            <a:r>
              <a:t>## Schéma conceptuel minimal (pour slides)</a:t>
            </a:r>
          </a:p>
          <a:p/>
          <a:p>
            <a:r>
              <a:t>```mermaid</a:t>
            </a:r>
          </a:p>
          <a:p>
            <a:r>
              <a:t>erDiagram</a:t>
            </a:r>
          </a:p>
          <a:p>
            <a:r>
              <a:t>  USER ||--o{ VIDEO : posts</a:t>
            </a:r>
          </a:p>
          <a:p>
            <a:r>
              <a:t>  USER ||--o{ ORDER : places</a:t>
            </a:r>
          </a:p>
          <a:p>
            <a:r>
              <a:t>  USER ||--|| WALLET : owns</a:t>
            </a:r>
          </a:p>
          <a:p>
            <a:r>
              <a:t>  USER ||--o{ COMMENT : writes</a:t>
            </a:r>
          </a:p>
          <a:p>
            <a:r>
              <a:t>```</a:t>
            </a:r>
          </a:p>
          <a:p/>
          <a:p>
            <a:r>
              <a:t>**Indexation précise par table** : non auditée fichier par fichier dans ce document — déclarer : « *audit d’indexes = revue migrations + explain plans sur endpoints critiques* ».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n°23</a:t>
            </a:r>
          </a:p>
          <a:p>
            <a:r>
              <a:t>Source : MEMOIRE_AUDIT_SOUTENANCE_COMPLET.md</a:t>
            </a:r>
          </a:p>
          <a:p/>
          <a:p>
            <a:r>
              <a:t>## 7. IA / Machine Learning — bilan factuel dépôt</a:t>
            </a:r>
          </a:p>
          <a:p/>
          <a:p>
            <a:r>
              <a:t>| Sujet | Réalité code |</a:t>
            </a:r>
          </a:p>
          <a:p>
            <a:r>
              <a:t>|-------|----------------|</a:t>
            </a:r>
          </a:p>
          <a:p>
            <a:r>
              <a:t>| **Assistant `/api`…** | `assistant.service.ts` → **réponses à règles** (+ appel reco service), **pas** de LLM |</a:t>
            </a:r>
          </a:p>
          <a:p>
            <a:r>
              <a:t>| **STT Whisper** | `liveStt.service.ts`, `whisperTranscription.ts` → appel **`api.openai.com`** si **`OPENAI_API_KEY`** défini sinon erreur métier contrôlée |</a:t>
            </a:r>
          </a:p>
          <a:p>
            <a:r>
              <a:t>| **AI Engine admin** | `aiEngine.service.ts` : commentaire interne « **modèles Prisma AI désactivés** » → **stats placeholders** ; features listées peuvent être **marketing/placeholder UI** jusqu’à branchement réel |</a:t>
            </a:r>
          </a:p>
          <a:p>
            <a:r>
              <a:t>| **Traduction** | Routes dédiées (fichiers `translate.routes.ts` observés précédemment dans le projet) |</a:t>
            </a:r>
          </a:p>
          <a:p>
            <a:r>
              <a:t>| **Recommandations** | Code via `getPersonalizedFeed` — **pas** équivalent GPT « multimodal généraliste » |</a:t>
            </a:r>
          </a:p>
          <a:p/>
          <a:p>
            <a:r>
              <a:t>**À dire au jury avec intégrité :** présence **d’APIs externes** et de **STUBS admin** IA ; Whisper **conditionné** aux secrets ; assistant **symbolique/rules-based**.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n°24</a:t>
            </a:r>
          </a:p>
          <a:p>
            <a:r>
              <a:t>Source : MEMOIRE_AUDIT_SOUTENANCE_COMPLET.md</a:t>
            </a:r>
          </a:p>
          <a:p/>
          <a:p>
            <a:r>
              <a:t>## 8. DevOps &amp; déploiement</a:t>
            </a:r>
          </a:p>
          <a:p/>
          <a:p>
            <a:r>
              <a:t>| Élément | Source |</a:t>
            </a:r>
          </a:p>
          <a:p>
            <a:r>
              <a:t>|---------|--------|</a:t>
            </a:r>
          </a:p>
          <a:p>
            <a:r>
              <a:t>| CI/CD | `.github/workflows/ci.yml` — budget PR, typecheck/lint gates, Vitest Expo, Jest backend, audits, workflows détaillés plus bas dans le fichier |</a:t>
            </a:r>
          </a:p>
          <a:p>
            <a:r>
              <a:t>| Docker prod | `docker-compose.prod.yml` — **frontend Nginx TLS**, **backend ×3 replicas**, **Postgres 15**, **Redis 7 LRU**, Certbot renewal |</a:t>
            </a:r>
          </a:p>
          <a:p>
            <a:r>
              <a:t>| Autres fichiers compose | `docker-compose.scaling-1m.yml`, `docker-compose.prod-1m.yml`, replication — poursuite **scalabilité** documentée en infra |</a:t>
            </a:r>
          </a:p>
          <a:p/>
          <a:p>
            <a:r>
              <a:t>**Branching GitHub** : déclenché sur `push/PR` vers `main` et `develop` (`ci.yml`).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n°25</a:t>
            </a:r>
          </a:p>
          <a:p>
            <a:r>
              <a:t>Source : MEMOIRE_AUDIT_SOUTENANCE_COMPLET.md</a:t>
            </a:r>
          </a:p>
          <a:p/>
          <a:p>
            <a:r>
              <a:t>## 9. Sécurité (panorama)</a:t>
            </a:r>
          </a:p>
          <a:p/>
          <a:p>
            <a:r>
              <a:t>| Menace | Contrôle observable |</a:t>
            </a:r>
          </a:p>
          <a:p>
            <a:r>
              <a:t>|--------|----------------------|</a:t>
            </a:r>
          </a:p>
          <a:p>
            <a:r>
              <a:t>| **Injection SQL** | Prisma paramétré |</a:t>
            </a:r>
          </a:p>
          <a:p>
            <a:r>
              <a:t>| **XSS** | Sanitize serveur (`requestProtection.middleware`) + DOMPurify PWA |</a:t>
            </a:r>
          </a:p>
          <a:p>
            <a:r>
              <a:t>| **CSRF** | Middleware dédié (import `app.ts`) |</a:t>
            </a:r>
          </a:p>
          <a:p>
            <a:r>
              <a:t>| **Brute-force** | `express-rate-limit` multi-profile + limiters Stripe/webhook |</a:t>
            </a:r>
          </a:p>
          <a:p>
            <a:r>
              <a:t>| **JWT** | Secrets requis startup `index.ts` + garde-force longueur secrets |</a:t>
            </a:r>
          </a:p>
          <a:p>
            <a:r>
              <a:t>| **SSRF média** | `proxy.routes.ts` (à expliquer : whitelist au jury) |</a:t>
            </a:r>
          </a:p>
          <a:p>
            <a:r>
              <a:t>| **Secrets** | `.env` ; **ne pas commit** keystores |</a:t>
            </a:r>
          </a:p>
          <a:p/>
          <a:p>
            <a:r>
              <a:t>**Limite assumée au jury :** très grande **surface API** ⇒ revue régulière, cartographie des endpoints sensibles, tests sécurité ciblés.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n°26</a:t>
            </a:r>
          </a:p>
          <a:p>
            <a:r>
              <a:t>Source : MEMOIRE_AUDIT_SOUTENANCE_COMPLET.md</a:t>
            </a:r>
          </a:p>
          <a:p/>
          <a:p>
            <a:r>
              <a:t>## 10. Performance &amp; optimisation</a:t>
            </a:r>
          </a:p>
          <a:p/>
          <a:p>
            <a:r>
              <a:t>| Zone | Indices dépôt |</a:t>
            </a:r>
          </a:p>
          <a:p>
            <a:r>
              <a:t>|------|----------------|</a:t>
            </a:r>
          </a:p>
          <a:p>
            <a:r>
              <a:t>| PWA | Lazy routes (`App.jsx`), compression Vite, preconnect dans `vite.config.js`, alias `lodash-es` |</a:t>
            </a:r>
          </a:p>
          <a:p>
            <a:r>
              <a:t>| Build mesure | `lhci`, `sitespeed:local` (scripts racine) |</a:t>
            </a:r>
          </a:p>
          <a:p>
            <a:r>
              <a:t>| Backend | compression, timeouts/metrics middleware, caches Redis potentiels |</a:t>
            </a:r>
          </a:p>
          <a:p/>
          <a:p>
            <a:r>
              <a:t>**Pas de valeur chiffrée de bundle/Lighthouse figée dans ce rapport** → exiger mesure terrain ou CI artifacts.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n°27</a:t>
            </a:r>
          </a:p>
          <a:p>
            <a:r>
              <a:t>Source : MEMOIRE_AUDIT_SOUTENANCE_COMPLET.md</a:t>
            </a:r>
          </a:p>
          <a:p/>
          <a:p>
            <a:r>
              <a:t>## 11. Difficultés rencontrées (techniques probables — à personnaliser à l’oral)</a:t>
            </a:r>
          </a:p>
          <a:p/>
          <a:p>
            <a:r>
              <a:t>| Difficulté | Piste dans le projet | Leçon |</a:t>
            </a:r>
          </a:p>
          <a:p>
            <a:r>
              <a:t>|------------|-----------------------|-------|</a:t>
            </a:r>
          </a:p>
          <a:p>
            <a:r>
              <a:t>| Médias &amp; buffer | Lecteur fragile + réseaux instables (règles internes projet sur `VideoCard`) | instrumentation + règles produit strictes |</a:t>
            </a:r>
          </a:p>
          <a:p>
            <a:r>
              <a:t>| Auth cookie+bearer | Double canal middleware | tester les deux voies systématiquement |</a:t>
            </a:r>
          </a:p>
          <a:p>
            <a:r>
              <a:t>| Schéma géant Prisma | 100 models | conventions + ownership par domaine |</a:t>
            </a:r>
          </a:p>
          <a:p>
            <a:r>
              <a:t>| Android dev LAN | Probe backend documenté frontend rules | diagnostic réseau |</a:t>
            </a:r>
          </a:p>
          <a:p>
            <a:r>
              <a:t>| Dépendances CJS/ESM | commentaire `vite.config.js` recharts | config build explicite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n°28</a:t>
            </a:r>
          </a:p>
          <a:p>
            <a:r>
              <a:t>Source : MEMOIRE_AUDIT_SOUTENANCE_COMPLET.md</a:t>
            </a:r>
          </a:p>
          <a:p/>
          <a:p>
            <a:r>
              <a:t>## 12. Compétences acquises (grille)</a:t>
            </a:r>
          </a:p>
          <a:p/>
          <a:p>
            <a:r>
              <a:t>Architecture full-stack, API REST expressive, temps réel, ORM relationnel poussé, paiements/webhooks (tests présents), PWA offline/persist-query, RN/Expo avancé, CI/CD gates, observabilité, sécurité « defense in depth », Docker Compose multi-service.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n°29</a:t>
            </a:r>
          </a:p>
          <a:p>
            <a:r>
              <a:t>Source : MEMOIRE_AUDIT_SOUTENANCE_COMPLET.md</a:t>
            </a:r>
          </a:p>
          <a:p/>
          <a:p>
            <a:r>
              <a:t>## 13. Limites actuelles</a:t>
            </a:r>
          </a:p>
          <a:p/>
          <a:p>
            <a:r>
              <a:t>1. **Monolithe backend** très large — complexité cognitive.  </a:t>
            </a:r>
          </a:p>
          <a:p>
            <a:r>
              <a:t>2. **Couplage** via DB partagée et schéma Prisma unique — transactions utiles mais **frontières runtime** peu claires sans doc domaine.  </a:t>
            </a:r>
          </a:p>
          <a:p>
            <a:r>
              <a:t>3. Module **AI Engine admin** explicitement **partiellement stub**.  </a:t>
            </a:r>
          </a:p>
          <a:p>
            <a:r>
              <a:t>4. **Métriques runtime** dépendantes des environnements de mesure.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n°30</a:t>
            </a:r>
          </a:p>
          <a:p>
            <a:r>
              <a:t>Source : MEMOIRE_AUDIT_SOUTENANCE_COMPLET.md</a:t>
            </a:r>
          </a:p>
          <a:p/>
          <a:p>
            <a:r>
              <a:t>## 14. Améliorations futures</a:t>
            </a:r>
          </a:p>
          <a:p/>
          <a:p>
            <a:r>
              <a:t>Bounded contexts progressive, files d’attente (**BullMQ/SQS**) pour médias/long-running, tests charge ciblés (scripts `load-test` backend), IA **contractualisée** (Whisper quotas, erreurs utilisateur), read replicas Postgres, CDN médias systématisé.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n°31</a:t>
            </a:r>
          </a:p>
          <a:p>
            <a:r>
              <a:t>Source : MEMOIRE_AUDIT_SOUTENANCE_COMPLET.md</a:t>
            </a:r>
          </a:p>
          <a:p/>
          <a:p>
            <a:r>
              <a:t>## 15. Banque de questions jury (100 questions — format mixte compact)</a:t>
            </a:r>
          </a:p>
          <a:p/>
          <a:p>
            <a:r>
              <a:t>Les questions **55–65** suivantes ont une réponse courte type oral ; celles avec **★** méritent une réponse développée au tableau.</a:t>
            </a:r>
          </a:p>
          <a:p/>
          <a:p>
            <a:r>
              <a:t>&lt;details&gt;</a:t>
            </a:r>
          </a:p>
          <a:p>
            <a:r>
              <a:t>&lt;summary&gt;Cliquer pour les questions 1–25 (architecture &amp; stack)&lt;/summary&gt;</a:t>
            </a:r>
          </a:p>
          <a:p/>
          <a:p>
            <a:r>
              <a:t>1. **Pourquoi un monolithe Express ?** — Vélocité, une base de code, même runtime que le front TS/JS ★  </a:t>
            </a:r>
          </a:p>
          <a:p>
            <a:r>
              <a:t>2. **Microservices alors ?** — Coût Ops ; à envisager après métriques.  </a:t>
            </a:r>
          </a:p>
          <a:p>
            <a:r>
              <a:t>3. **Pourquoi Prisma ?** Types + migrations ★  </a:t>
            </a:r>
          </a:p>
          <a:p>
            <a:r>
              <a:t>4. **Inconvénient Prisma ici ?** Schéma lourd ⇒ generate long.  </a:t>
            </a:r>
          </a:p>
          <a:p>
            <a:r>
              <a:t>5. **PostgreSQL pas MongoDB ?** ACID wallet/commandes ★  </a:t>
            </a:r>
          </a:p>
          <a:p>
            <a:r>
              <a:t>6. **Pourquoi pas GraphQL ?** Surface REST massive déjà ★  </a:t>
            </a:r>
          </a:p>
          <a:p>
            <a:r>
              <a:t>7. **Pourquoi Vite pas Next pour la PWA ?** Stack réelle fichier `vite.config.js` ★  </a:t>
            </a:r>
          </a:p>
          <a:p>
            <a:r>
              <a:t>8. **Double front : problème ?** Couverture web/native ; duplication UI assumée ★  </a:t>
            </a:r>
          </a:p>
          <a:p>
            <a:r>
              <a:t>9. **TanStack Query rôle ?** Cache + retry + synchro ★  </a:t>
            </a:r>
          </a:p>
          <a:p>
            <a:r>
              <a:t>10. **Zustand vs Redux ?** Légèreté mobile ★  </a:t>
            </a:r>
          </a:p>
          <a:p>
            <a:r>
              <a:t>11. **socket.io pourquoi ?** Temps réel sur HTTP existant ★  </a:t>
            </a:r>
          </a:p>
          <a:p>
            <a:r>
              <a:t>12. **Scaler Socket.IO ?** Redis adapter ★  </a:t>
            </a:r>
          </a:p>
          <a:p>
            <a:r>
              <a:t>13. **JWT vs sessions cookies ?** Compromis stateless + revocation partielle ★  </a:t>
            </a:r>
          </a:p>
          <a:p>
            <a:r>
              <a:t>14. **où cors ?** app.ts whitelist stricte credentials ★  </a:t>
            </a:r>
          </a:p>
          <a:p>
            <a:r>
              <a:t>15. **Trust proxy pourquoi ?** reverse proxy/nginx réelle IP ★  </a:t>
            </a:r>
          </a:p>
          <a:p>
            <a:r>
              <a:t>16. **Swagger utile ?** Doc API interne onboarding ★  </a:t>
            </a:r>
          </a:p>
          <a:p>
            <a:r>
              <a:t>17. **Pourquoi S3 SDK ?** Médias &amp; presigned URLs ★  </a:t>
            </a:r>
          </a:p>
          <a:p>
            <a:r>
              <a:t>18. **Stripe + OM scripts ?** Paiements locaux ★  </a:t>
            </a:r>
          </a:p>
          <a:p>
            <a:r>
              <a:t>19. **Firebase-admin pour quoi ?** Push / usages optionnels ★  </a:t>
            </a:r>
          </a:p>
          <a:p>
            <a:r>
              <a:t>20. **jobs/*.job.js pourquoi ?** Tâches planifiées housekeeping ★  </a:t>
            </a:r>
          </a:p>
          <a:p>
            <a:r>
              <a:t>21. **Helmet valeur ?** entêtes HTTP sécurité ★  </a:t>
            </a:r>
          </a:p>
          <a:p>
            <a:r>
              <a:t>22. **rate-limit granularity ?** limite brute force différent paiement uploads ★  </a:t>
            </a:r>
          </a:p>
          <a:p>
            <a:r>
              <a:t>23. **Prisma adapter pg ?** pool connexions performant ★  </a:t>
            </a:r>
          </a:p>
          <a:p>
            <a:r>
              <a:t>24. **Supabase présent mais rôle exact ?** Lire usages auth/migration ★ — *si interrogé précisément : être honnête sur périmètre réel branché.*  </a:t>
            </a:r>
          </a:p>
          <a:p>
            <a:r>
              <a:t>25. **Agora où ?** Côté web/mobile deps ; token serveur backend `agora-token` ★  </a:t>
            </a:r>
          </a:p>
          <a:p/>
          <a:p>
            <a:r>
              <a:t>&lt;/details&gt;</a:t>
            </a:r>
          </a:p>
          <a:p/>
          <a:p>
            <a:r>
              <a:t>&lt;details&gt;</a:t>
            </a:r>
          </a:p>
          <a:p>
            <a:r>
              <a:t>&lt;summary&gt;Questions 26–50 (sécu, données, erreurs)&lt;/summary&gt;</a:t>
            </a:r>
          </a:p>
          <a:p/>
          <a:p>
            <a:r>
              <a:t>26. **CSRF même avec SPA ?** Oui lorsque cookies ★  </a:t>
            </a:r>
          </a:p>
          <a:p>
            <a:r>
              <a:t>27. **sanitizeInputMiddleware évite XSS ?** réduit vecteurs entrée ★  </a:t>
            </a:r>
          </a:p>
          <a:p>
            <a:r>
              <a:t>28. **SSRF dans proxy média ?** mitigation whitelist ★★  </a:t>
            </a:r>
          </a:p>
          <a:p>
            <a:r>
              <a:t>29. **Stockage JWT PWA ?** secureTokenStorage ★  </a:t>
            </a:r>
          </a:p>
          <a:p>
            <a:r>
              <a:t>30. **SecureStore mobile ?** expo-secure-store ★  </a:t>
            </a:r>
          </a:p>
          <a:p>
            <a:r>
              <a:t>31. **Liste noire jti Redis ?** discuter fichier auth ★★  </a:t>
            </a:r>
          </a:p>
          <a:p>
            <a:r>
              <a:t>32. **Comment tester auth ?** Jest smoke + supertest ★  </a:t>
            </a:r>
          </a:p>
          <a:p>
            <a:r>
              <a:t>33. **errorHandler pipeline ?** centralisation logs Sentry ★  </a:t>
            </a:r>
          </a:p>
          <a:p>
            <a:r>
              <a:t>34. **Prisma évite injections ?** queries param ★  </a:t>
            </a:r>
          </a:p>
          <a:p>
            <a:r>
              <a:t>35. **multipart Multer dangers ?** limites MIME taille validations ★  </a:t>
            </a:r>
          </a:p>
          <a:p>
            <a:r>
              <a:t>36. **PII logs ?** règle AGENTS : userId ★  </a:t>
            </a:r>
          </a:p>
          <a:p>
            <a:r>
              <a:t>37. **JWT secret length enforcement ?** bootstrap index.ts ★  </a:t>
            </a:r>
          </a:p>
          <a:p>
            <a:r>
              <a:t>38. **Comment rotation refresh ?** expliquer flow auth.routes ★★  </a:t>
            </a:r>
          </a:p>
          <a:p>
            <a:r>
              <a:t>39. **Webhooks Stripe idempotency ?** parler tests `stripe.webhook.test.ts` ★  </a:t>
            </a:r>
          </a:p>
          <a:p>
            <a:r>
              <a:t>40. **Comment rollback migration ?** stratégie migration forward-only Prisma ★  </a:t>
            </a:r>
          </a:p>
          <a:p>
            <a:r>
              <a:t>41. **Partitionnement tables giant ?** non observé ⇒ « à étudier si volumétrie » ★  </a:t>
            </a:r>
          </a:p>
          <a:p>
            <a:r>
              <a:t>42. **Isolation tenant ?** monocloc userId sur requête ★  </a:t>
            </a:r>
          </a:p>
          <a:p>
            <a:r>
              <a:t>43. **E2EE messaging status ?** flag user comment « implémentation à venir » schéma ★  </a:t>
            </a:r>
          </a:p>
          <a:p>
            <a:r>
              <a:t>44. **Modération live ?** filtres/regles live.service ★  </a:t>
            </a:r>
          </a:p>
          <a:p>
            <a:r>
              <a:t>45. **Rôle admin garanti ?** `requireRole` ★  </a:t>
            </a:r>
          </a:p>
          <a:p>
            <a:r>
              <a:t>46. **Bypass rate-limit ?** IP headers trust proxy caveat ★  </a:t>
            </a:r>
          </a:p>
          <a:p>
            <a:r>
              <a:t>47. **DDoS ?** niveau infra WAF CDN — hors code ★  </a:t>
            </a:r>
          </a:p>
          <a:p>
            <a:r>
              <a:t>48. **Secrets Vercel preview ?** app.ts désactive previews par défaut ★  </a:t>
            </a:r>
          </a:p>
          <a:p>
            <a:r>
              <a:t>49. **CBC padding oracle ?** N/A niveau général — passer si hors scope ★  </a:t>
            </a:r>
          </a:p>
          <a:p>
            <a:r>
              <a:t>50. **Comparaison bcrypt ?** bcryptjs utilisé ★  </a:t>
            </a:r>
          </a:p>
          <a:p/>
          <a:p>
            <a:r>
              <a:t>&lt;/details&gt;</a:t>
            </a:r>
          </a:p>
          <a:p/>
          <a:p>
            <a:r>
              <a:t>&lt;details&gt;</a:t>
            </a:r>
          </a:p>
          <a:p>
            <a:r>
              <a:t>&lt;summary&gt;Questions 51–75 (scalabilité, perf, disponibilité)&lt;/summary&gt;</a:t>
            </a:r>
          </a:p>
          <a:p/>
          <a:p>
            <a:r>
              <a:t>51. **Bottleneck feed ?** DB jointures + cache ★★  </a:t>
            </a:r>
          </a:p>
          <a:p>
            <a:r>
              <a:t>52. **10k utilisateurs concurrents ?** replicas + Redis + CDN ★  </a:t>
            </a:r>
          </a:p>
          <a:p>
            <a:r>
              <a:t>53. **1M users ?** sharding dur ; read replicas + queues ★★  </a:t>
            </a:r>
          </a:p>
          <a:p>
            <a:r>
              <a:t>54. **Session sticky vs Redis adapter WS ?** expliquer ★★  </a:t>
            </a:r>
          </a:p>
          <a:p>
            <a:r>
              <a:t>55. **Postgres failover ?** infra HA — hors fichier applicatif ★  </a:t>
            </a:r>
          </a:p>
          <a:p>
            <a:r>
              <a:t>56. **Cold start Docker ?** image size optimization ★  </a:t>
            </a:r>
          </a:p>
          <a:p>
            <a:r>
              <a:t>57. **Nginx cache static ?** build PWA servi ★  </a:t>
            </a:r>
          </a:p>
          <a:p>
            <a:r>
              <a:t>58. **PWA stratégie cache ?** workbox vite-plugin ★  </a:t>
            </a:r>
          </a:p>
          <a:p>
            <a:r>
              <a:t>59. **Lazy loading impacts SEO ?** SPA trade ★  </a:t>
            </a:r>
          </a:p>
          <a:p>
            <a:r>
              <a:t>60. **Lighthouse où ?** script lhci ★  </a:t>
            </a:r>
          </a:p>
          <a:p>
            <a:r>
              <a:t>61. **bundle splitting ?** vite code split routes ★  </a:t>
            </a:r>
          </a:p>
          <a:p>
            <a:r>
              <a:t>62. **N+1 Prisma queries ?** include/select discipline ★  </a:t>
            </a:r>
          </a:p>
          <a:p>
            <a:r>
              <a:t>63. **connection pool exhaustion ?** pooling pg prisma ★  </a:t>
            </a:r>
          </a:p>
          <a:p>
            <a:r>
              <a:t>64. **Backpressure uploads ?** limiters upload ★  </a:t>
            </a:r>
          </a:p>
          <a:p>
            <a:r>
              <a:t>65. **Message queue future ?** files async ★  </a:t>
            </a:r>
          </a:p>
          <a:p>
            <a:r>
              <a:t>66. **Read vs write séparation ?** future replica read ★  </a:t>
            </a:r>
          </a:p>
          <a:p>
            <a:r>
              <a:t>67. **Global state pitfalls mobile Zustand ?** tests vitest ★  </a:t>
            </a:r>
          </a:p>
          <a:p>
            <a:r>
              <a:t>68. **Offline mode mobile expo-sqlite ?** usage partiel à confirmer module par module ★  </a:t>
            </a:r>
          </a:p>
          <a:p>
            <a:r>
              <a:t>69. **Android networking bug 127.** probe backend ★★  </a:t>
            </a:r>
          </a:p>
          <a:p>
            <a:r>
              <a:t>70. **Memory leak websocket ?** maps cleaned index.ts ★  </a:t>
            </a:r>
          </a:p>
          <a:p>
            <a:r>
              <a:t>71. **Graceful shutdown ?** constants timeout index.ts ★  </a:t>
            </a:r>
          </a:p>
          <a:p>
            <a:r>
              <a:t>72. **Health checks étendus ?** `sendExtendedApiHealth` ★  </a:t>
            </a:r>
          </a:p>
          <a:p>
            <a:r>
              <a:t>73. **Metrics Prometheus utiles ?** SLO futurs ★  </a:t>
            </a:r>
          </a:p>
          <a:p>
            <a:r>
              <a:t>74. **Logging structuré ?** logger utils ★  </a:t>
            </a:r>
          </a:p>
          <a:p>
            <a:r>
              <a:t>75. **Chaos engineering ?** non standard — honnêteté ★  </a:t>
            </a:r>
          </a:p>
          <a:p/>
          <a:p>
            <a:r>
              <a:t>&lt;/details&gt;</a:t>
            </a:r>
          </a:p>
          <a:p/>
          <a:p>
            <a:r>
              <a:t>&lt;details&gt;</a:t>
            </a:r>
          </a:p>
          <a:p>
            <a:r>
              <a:t>&lt;summary&gt;Questions 76–100 (IA, Méthodo, généralités)&lt;/summary&gt;</a:t>
            </a:r>
          </a:p>
          <a:p/>
          <a:p>
            <a:r>
              <a:t>76. **Où est GPT dans assistant ?** Aucune — rule-based ★★  </a:t>
            </a:r>
          </a:p>
          <a:p>
            <a:r>
              <a:t>77. **Whisper quand disponible ?** OPENAI_API_KEY ★★  </a:t>
            </a:r>
          </a:p>
          <a:p>
            <a:r>
              <a:t>78. **Modèles Prisma IA ?** commentaire désactivés aiEngine ★★  </a:t>
            </a:r>
          </a:p>
          <a:p>
            <a:r>
              <a:t>79. **RAG projet ?** non démontré ★  </a:t>
            </a:r>
          </a:p>
          <a:p>
            <a:r>
              <a:t>80. **Embeddings stockés ?** non cité ★  </a:t>
            </a:r>
          </a:p>
          <a:p>
            <a:r>
              <a:t>81. **Vous faites ML training ?** non dans extrait ★  </a:t>
            </a:r>
          </a:p>
          <a:p>
            <a:r>
              <a:t>82. **LibreTranslate où ?** route translate ★  </a:t>
            </a:r>
          </a:p>
          <a:p>
            <a:r>
              <a:t>83. **Scrum board visible ?** non dans dépôt — dire « workflows CI + conventions » ★  </a:t>
            </a:r>
          </a:p>
          <a:p>
            <a:r>
              <a:t>84. **PR 400 lignes pourquoi ?** durabilité manuel ★★  </a:t>
            </a:r>
          </a:p>
          <a:p>
            <a:r>
              <a:t>85. **Couverture tests ?** lire rapport CI ★★  </a:t>
            </a:r>
          </a:p>
          <a:p>
            <a:r>
              <a:t>86. **E2E Playwright couverture routes ?** tests/e2e list scripts ★  </a:t>
            </a:r>
          </a:p>
          <a:p>
            <a:r>
              <a:t>87. **Maestro où ?** maestro YAML frontend ★  </a:t>
            </a:r>
          </a:p>
          <a:p>
            <a:r>
              <a:t>88. **Quelle duplication code ?** honnêteté hotspots ★  </a:t>
            </a:r>
          </a:p>
          <a:p>
            <a:r>
              <a:t>89. **Licences deps ?** audit npm ★  </a:t>
            </a:r>
          </a:p>
          <a:p>
            <a:r>
              <a:t>90. **Accessibilité PWA ?** Radix aide — audit à compléter ★  </a:t>
            </a:r>
          </a:p>
          <a:p>
            <a:r>
              <a:t>91. **i18n stratégie ?** Translation provider App.jsx ★  </a:t>
            </a:r>
          </a:p>
          <a:p>
            <a:r>
              <a:t>92. **Cartographie domaine ?** manque doc ADR granularité ★  </a:t>
            </a:r>
          </a:p>
          <a:p>
            <a:r>
              <a:t>93. **SDK dossier sdk/ ?** existant repos — périmètre à résumer vite ★  </a:t>
            </a:r>
          </a:p>
          <a:p>
            <a:r>
              <a:t>94. **OpenAPI synchro ?** swagger généré manuel swagger.js ★  </a:t>
            </a:r>
          </a:p>
          <a:p>
            <a:r>
              <a:t>95. **Versioning API /v1 ?** mix routes — préciser fichier routes ★  </a:t>
            </a:r>
          </a:p>
          <a:p>
            <a:r>
              <a:t>96. **Idempotency keys paiement OM ?** parler tests webhooks ★  </a:t>
            </a:r>
          </a:p>
          <a:p>
            <a:r>
              <a:t>97. **Comment éviter race wallet ?** transactions SQL ★★  </a:t>
            </a:r>
          </a:p>
          <a:p>
            <a:r>
              <a:t>98. **Feature flags exemple ?** FeatureFlags provider ★  </a:t>
            </a:r>
          </a:p>
          <a:p>
            <a:r>
              <a:t>99. **Comment migrer hors Prisma ?** coût énorme ★  </a:t>
            </a:r>
          </a:p>
          <a:p>
            <a:r>
              <a:t>100. **Pourquoi ce projet vous forme comme ingénieur ?** Synthèse : **système + gouvernance** ★★  </a:t>
            </a:r>
          </a:p>
          <a:p/>
          <a:p>
            <a:r>
              <a:t>&lt;/details&gt;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n°32</a:t>
            </a:r>
          </a:p>
          <a:p>
            <a:r>
              <a:t>Source : MEMOIRE_AUDIT_SOUTENANCE_COMPLET.md</a:t>
            </a:r>
          </a:p>
          <a:p/>
          <a:p>
            <a:r>
              <a:t>## 16. Scripts oraux (5 / 10 / 15 minutes)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n°33</a:t>
            </a:r>
          </a:p>
          <a:p>
            <a:r>
              <a:t>Source : MEMOIRE_AUDIT_SOUTENANCE_COMPLET.md</a:t>
            </a:r>
          </a:p>
          <a:p/>
          <a:p>
            <a:r>
              <a:t>## 5 minutes</a:t>
            </a:r>
          </a:p>
          <a:p/>
          <a:p>
            <a:r>
              <a:t>Bonjour jury. Je présente **AfriWonder**, une plateforme super-app pour un contexte africain à contraintes réseau : **trois clients** une **API Express** commune — **PWA Vite/React**, application **Expo**, persistance **PostgreSQL** via **Prisma** soit environ **cent modèles** relationnels. L’architecture est un **monolithe modulaire** avec **middleware de sécurité**, **validation Zod**, temps réel **Socket.IO**. Je souligne trois points techniques : défense SSRF pour le proxy média, pipelines de paiements testés et industrialisation CI. Je conclus sur une limite majeure : **surface immense** ⇒ gouvernance et modularisation futures. Merci.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n°34</a:t>
            </a:r>
          </a:p>
          <a:p>
            <a:r>
              <a:t>Source : MEMOIRE_AUDIT_SOUTENANCE_COMPLET.md</a:t>
            </a:r>
          </a:p>
          <a:p/>
          <a:p>
            <a:r>
              <a:t>## 10 minutes</a:t>
            </a:r>
          </a:p>
          <a:p/>
          <a:p>
            <a:r>
              <a:t>(Ajouter) Schéma **clients → Express → Postgres/Redis**. Insister que la **PWA n’est pas Next.js**. Mentionner **`index.ts`** : jobs batch + websocket. Sécurité : **JWT + révocation** conceptuelle vs stateless pur. Une phrase sur **assistant rules-based + Whisper optionnel clé**.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n°35</a:t>
            </a:r>
          </a:p>
          <a:p>
            <a:r>
              <a:t>Source : MEMOIRE_AUDIT_SOUTENANCE_COMPLET.md</a:t>
            </a:r>
          </a:p>
          <a:p/>
          <a:p>
            <a:r>
              <a:t>## 15 minutes</a:t>
            </a:r>
          </a:p>
          <a:p/>
          <a:p>
            <a:r>
              <a:t>(Ajouter) Détail **scaling** trois replicas Compose + Redis ; **dual channel auth** cookies ; **TanStack persist** hors ligne partiel ; **OpenAI Whisper** fichier `liveStt.service.ts` si clé présente vs **stub AI Engine**. Finir par **limitations honnêtes** + évolution bounded contexts.</a:t>
            </a:r>
          </a:p>
          <a:p/>
          <a:p>
            <a:r>
              <a:t>**Transitions utiles:** « Voyons comment le code reflète cette décision… », « Au niveau persistance… », « Côté industrialisation… ».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n°36</a:t>
            </a:r>
          </a:p>
          <a:p>
            <a:r>
              <a:t>Source : MEMOIRE_AUDIT_SOUTENANCE_COMPLET.md</a:t>
            </a:r>
          </a:p>
          <a:p/>
          <a:p>
            <a:r>
              <a:t>## 17. Structure PowerPoint (slide par slide — contenu conseillé)</a:t>
            </a:r>
          </a:p>
          <a:p/>
          <a:p>
            <a:r>
              <a:t>(Abrégé mais actionnable ; alignée sur `AfriWonder_Soutenance.pptx` régénérable.)</a:t>
            </a:r>
          </a:p>
          <a:p/>
          <a:p>
            <a:r>
              <a:t>| # | Titre slide | Éléments visuels | Texte maximal |</a:t>
            </a:r>
          </a:p>
          <a:p>
            <a:r>
              <a:t>|---|-------------|-----------------|---------------|</a:t>
            </a:r>
          </a:p>
          <a:p>
            <a:r>
              <a:t>| 1 | AfriWonder | Logo + KPI 3 clients / 100 models / CI | sous-titre 1 ligne |</a:t>
            </a:r>
          </a:p>
          <a:p>
            <a:r>
              <a:t>| 2 | Contexte problème/opportunité | triangle contraintes | 3 bullets max |</a:t>
            </a:r>
          </a:p>
          <a:p>
            <a:r>
              <a:t>| 3 | Triple livraison | schéma bloc | précision VITE |</a:t>
            </a:r>
          </a:p>
          <a:p>
            <a:r>
              <a:t>| 4 | Fonctions (grille) | grille 15 | pas de liste exhaustive |</a:t>
            </a:r>
          </a:p>
          <a:p>
            <a:r>
              <a:t>| 5 | Architecture | Mermaid couches | aucun paragraphe |</a:t>
            </a:r>
          </a:p>
          <a:p>
            <a:r>
              <a:t>| 6 | Flux authentifié | pipeline 6 étapes | 4 bullets bas |</a:t>
            </a:r>
          </a:p>
          <a:p>
            <a:r>
              <a:t>| 7 | Données pivot | ER + lignes satellites | footer « Prisma massif » |</a:t>
            </a:r>
          </a:p>
          <a:p>
            <a:r>
              <a:t>| 8 | Sécurité | matrice menace/contre-mesure | 0 paragraphe |</a:t>
            </a:r>
          </a:p>
          <a:p>
            <a:r>
              <a:t>| 9 | Frontend double | tableau PWA/Expo | mention secure storage |</a:t>
            </a:r>
          </a:p>
          <a:p>
            <a:r>
              <a:t>| 10 | Socket.IO scale | ligne clients-serveur-redis | 3 bullets |</a:t>
            </a:r>
          </a:p>
          <a:p>
            <a:r>
              <a:t>| 11 | Perf &amp; médias | 4 colonnes | honnêteté mesures |</a:t>
            </a:r>
          </a:p>
          <a:p>
            <a:r>
              <a:t>| 12 | CI/CD | pipeline 7 étapes | mention PR≤400 |</a:t>
            </a:r>
          </a:p>
          <a:p>
            <a:r>
              <a:t>| 13 | Docker prod | nginx replicas pg redis | 4 bullets infra |</a:t>
            </a:r>
          </a:p>
          <a:p>
            <a:r>
              <a:t>| 14 | IA factuelle | 4 quadrants | distinguer Whisper clé obligatoire |</a:t>
            </a:r>
          </a:p>
          <a:p>
            <a:r>
              <a:t>| 15 | Difficultés &amp; compétences | 2 colonnes | |</a:t>
            </a:r>
          </a:p>
          <a:p>
            <a:r>
              <a:t>| 16 | Limites &amp; suite | roadmap | posture mature |</a:t>
            </a:r>
          </a:p>
          <a:p>
            <a:r>
              <a:t>| 17 | Synthèse + fichiers preuve | encadré liste chemins | |</a:t>
            </a:r>
          </a:p>
          <a:p>
            <a:r>
              <a:t>| 18 | Démo | 3 screenshots | anonymiser |</a:t>
            </a:r>
          </a:p>
          <a:p>
            <a:r>
              <a:t>| 19 | Questions | neutre |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n°37</a:t>
            </a:r>
          </a:p>
          <a:p>
            <a:r>
              <a:t>Source : MEMOIRE_AUDIT_SOUTENANCE_COMPLET.md</a:t>
            </a:r>
          </a:p>
          <a:p/>
          <a:p>
            <a:r>
              <a:t>## 18. Diagrammes à produire (liste avec lecture jury)</a:t>
            </a:r>
          </a:p>
          <a:p/>
          <a:p>
            <a:r>
              <a:t>Pour chaque figure : titre, légende, **ce que le jury doit voir**.</a:t>
            </a:r>
          </a:p>
          <a:p/>
          <a:p>
            <a:r>
              <a:t>1. **Architecture globale** (Mermaid §3.1) — compréhension flux principal.  </a:t>
            </a:r>
          </a:p>
          <a:p>
            <a:r>
              <a:t>2. **Parcours utilisateur** swimlane horizontal (Discover → Monetize). — alignement métier/backend.  </a:t>
            </a:r>
          </a:p>
          <a:p>
            <a:r>
              <a:t>3. **Séquence auth** (`client` → middleware → prisma) — JWT + erreurs centralisées.  </a:t>
            </a:r>
          </a:p>
          <a:p>
            <a:r>
              <a:t>4. **Séquence proxy média** — SSRF whitelist + Range streaming. — maturité sécu.  </a:t>
            </a:r>
          </a:p>
          <a:p>
            <a:r>
              <a:t>5. **Schéma déploiement** (compose prod) — stateless replicas.  </a:t>
            </a:r>
          </a:p>
          <a:p>
            <a:r>
              <a:t>6. **Composants PWA providers** (`App.jsx` stack Providers) — state layers.  </a:t>
            </a:r>
          </a:p>
          <a:p/>
          <a:p>
            <a:r>
              <a:t>**Outils :** **Mermaid** (versionnable), **Draw.io**, **Excalidraw** pour esthétique, **PlantUML** si institution impose.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n°38</a:t>
            </a:r>
          </a:p>
          <a:p>
            <a:r>
              <a:t>Source : MEMOIRE_AUDIT_SOUTENANCE_COMPLET.md</a:t>
            </a:r>
          </a:p>
          <a:p/>
          <a:p>
            <a:r>
              <a:t>## 19. Analyse critique du code</a:t>
            </a:r>
          </a:p>
          <a:p/>
          <a:p>
            <a:r>
              <a:t>Points forts : discipline **gates CI**, duplication limitée intentionnellement par scripts, granularité middleware.  </a:t>
            </a:r>
          </a:p>
          <a:p>
            <a:r>
              <a:t>Risques : **explosion combinatoire routes** ⇒ risque validations incomplètes sur chemins peu utilisés ; **schéma Prisma comme point unique de vérité** ⇒ migration risquée ; **stub IA admin** doit être annoncé.  </a:t>
            </a:r>
          </a:p>
          <a:p>
            <a:r>
              <a:t>Convention : fichier `app.ts` illisible tant montage massif — normal pour super-app mais coûte la navigation humaine ⇒ **documentation domaine indispensable**.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n°39</a:t>
            </a:r>
          </a:p>
          <a:p>
            <a:r>
              <a:t>Source : MEMOIRE_AUDIT_SOUTENANCE_COMPLET.md</a:t>
            </a:r>
          </a:p>
          <a:p/>
          <a:p>
            <a:r>
              <a:t>## 20. Conclusion professionnelle</a:t>
            </a:r>
          </a:p>
          <a:p/>
          <a:p>
            <a:r>
              <a:t>AfriWonder incarne une **ambition industrielle réelle** observable par la densité fonctionnelle, la persistance relationnelle profonde et l’articulation triple client. La valeur ajoutée ingénieur n’est pas la liste exhaustive des endpoints mais la **capsule cohérente sécurité + données + UX multi-plateforme + automatisation CI**. Perspectives dominantes : **modularité progressive**, métriques opérationnelles, externalisation workloads asynchrones.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n°40</a:t>
            </a:r>
          </a:p>
          <a:p>
            <a:r>
              <a:t>Source : MEMOIRE_AUDIT_SOUTENANCE_COMPLET.md</a:t>
            </a:r>
          </a:p>
          <a:p/>
          <a:p>
            <a:r>
              <a:t>[SECTION SENSIBLE — ne pas partager l’écran]</a:t>
            </a:r>
          </a:p>
          <a:p/>
          <a:p>
            <a:r>
              <a:t>## 21. QUESTIONS PIÈGES DU PROFESSEUR (SECTION PRIVÉE)</a:t>
            </a:r>
          </a:p>
          <a:p/>
          <a:p>
            <a:r>
              <a:t>*(Ne pas projeter tel quel ; format demandé réduit mais actionnable)*  </a:t>
            </a:r>
          </a:p>
          <a:p/>
          <a:p>
            <a:r>
              <a:t>| Piège | Ce qu'il teste | Erreur fatale | Réponse courte | Réponse développée | Panique-safe | Mots-clés |</a:t>
            </a:r>
          </a:p>
          <a:p>
            <a:r>
              <a:t>|-------|----------------|----------------|----------------|--------------------|---------------|-----------|</a:t>
            </a:r>
          </a:p>
          <a:p>
            <a:r>
              <a:t>| « Vous utilisez Next ? » | Maîtrise stack | Inventer SSR | Non, **Vite SPA** avec React Router lazy | Réf vite.config/App.jsx | « Stack documentée dans package racine » | Vite, SPA |</a:t>
            </a:r>
          </a:p>
          <a:p>
            <a:r>
              <a:t>| « Montrez-moi GPT embarqué » | Honnêteté | Bluff | `/assistant` rule-based ; Whisper externe facultatif ; AI Engine placeholders | cite fichiers | « Pas de GPT générique — intégrations ciblées ou stubs » | Whisper, stubs |</a:t>
            </a:r>
          </a:p>
          <a:p>
            <a:r>
              <a:t>| « Pourquoi 100 tables n’est pas ridicule ? » | modélisation | « C’est automatique » | Domaine régional très large + intégrité transactionnelle | User pivot financier+societal | « Schéma riche délibéré — discipline migrations » | Prisma pivot |</a:t>
            </a:r>
          </a:p>
          <a:p>
            <a:r>
              <a:t>| « SSRF alors ? » | proxy | néglige | Liste blanche + refus défaut proxy.routes.ts | cite | « Pas d’open proxy » | SSRF whitelist |</a:t>
            </a:r>
          </a:p>
          <a:p>
            <a:r>
              <a:t>| « Bounded contexts où ? » | modularité runtime | Dire microservices déjà fait | Modularité fichier + migrations ; runtime split futur métriques | — | « Monolith modulaire → extraction conditionnelle » | DDD léger |</a:t>
            </a:r>
          </a:p>
          <a:p/>
          <a:p>
            <a:r>
              <a:t>(Ajouter 15 lignes comme ci-dessus en répétitions sur JWT+jti, idempotency, fan-out websocket, duplication UI, stratégie tests.)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n°41</a:t>
            </a:r>
          </a:p>
          <a:p>
            <a:r>
              <a:t>Source : MEMOIRE_AUDIT_SOUTENANCE_COMPLET.md</a:t>
            </a:r>
          </a:p>
          <a:p/>
          <a:p>
            <a:r>
              <a:t>## 22. Conseils oraux &amp; stratégie</a:t>
            </a:r>
          </a:p>
          <a:p/>
          <a:p>
            <a:r>
              <a:t>- **Triangles** : Problème → Solution → Preuve fichier.  </a:t>
            </a:r>
          </a:p>
          <a:p>
            <a:r>
              <a:t>- **Question inconnue** : « Sur ce point je préférerais valider avec un bench / métriques prod ; dans le périmètre code je cite X ».  </a:t>
            </a:r>
          </a:p>
          <a:p>
            <a:r>
              <a:t>- **Interruptions** : accorder 5s silence, puis « je termine cette idée en une phrase : … puis j’approfondis votre point ».  </a:t>
            </a:r>
          </a:p>
          <a:p>
            <a:r>
              <a:t>- Erreurs : survendre **IA** ; fusionner wallet sans parler transactions ; perdre vue **contraintes Afrique**.</a:t>
            </a:r>
          </a:p>
          <a:p/>
          <a:p>
            <a:r>
              <a:t>**Phrases outil :** « C’est un **compromis documenté**. », « Le **point sensible** sécuritaire est … », « **Dette localisée** sur … avec plan réduction. ».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n°42</a:t>
            </a:r>
          </a:p>
          <a:p>
            <a:r>
              <a:t>Source : MEMOIRE_AUDIT_SOUTENANCE_COMPLET.md</a:t>
            </a:r>
          </a:p>
          <a:p/>
          <a:p>
            <a:r>
              <a:t>## 23. UML — quoi montrer (cohérence code)</a:t>
            </a:r>
          </a:p>
          <a:p/>
          <a:p>
            <a:r>
              <a:t>1. **Use case** simplifié (Invité, User, Seller, Creator, Admin) — grandes capacités montées routes.  </a:t>
            </a:r>
          </a:p>
          <a:p>
            <a:r>
              <a:t>2. **Diagramme classe domaine MINIMAL** (User, Wallet, Video, Order) — pas tout Prisma au tableau.  </a:t>
            </a:r>
          </a:p>
          <a:p>
            <a:r>
              <a:t>3. **Séquence** paiement Stripe : Webhook→service wallet→transaction.  </a:t>
            </a:r>
          </a:p>
          <a:p>
            <a:r>
              <a:t>4. **Composants** : blocs Clients / API / Data / Messaging.  </a:t>
            </a:r>
          </a:p>
          <a:p>
            <a:r>
              <a:t>5. **Déploiement** : Nginx-front, swarm replicas, Postgres, Redis.  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n°43</a:t>
            </a:r>
          </a:p>
          <a:p>
            <a:r>
              <a:t>Source : MEMOIRE_AUDIT_SOUTENANCE_COMPLET.md</a:t>
            </a:r>
          </a:p>
          <a:p/>
          <a:p>
            <a:r>
              <a:t>## 24. Méthodologie développement</a:t>
            </a:r>
          </a:p>
          <a:p/>
          <a:p>
            <a:r>
              <a:t>Pas de dossier Scrum explicite trouvé lors de cet échantillon — préférer : **process outillé** (PR petite, gates automatisées, multiples scripts verify). Mentionner collaborations éventuelles seulement si réelles vécu perso.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n°44</a:t>
            </a:r>
          </a:p>
          <a:p>
            <a:r>
              <a:t>Source : MEMOIRE_AUDIT_SOUTENANCE_COMPLET.md</a:t>
            </a:r>
          </a:p>
          <a:p/>
          <a:p>
            <a:r>
              <a:t>## 25. Tests &amp; qualité logicielle</a:t>
            </a:r>
          </a:p>
          <a:p/>
          <a:p>
            <a:r>
              <a:t>| Couche | Outil |</a:t>
            </a:r>
          </a:p>
          <a:p>
            <a:r>
              <a:t>|-------|-------|</a:t>
            </a:r>
          </a:p>
          <a:p>
            <a:r>
              <a:t>| Backend | **Jest** + supertest scripts nombreux smoke/coverage |</a:t>
            </a:r>
          </a:p>
          <a:p>
            <a:r>
              <a:t>| PWA racine | **Vitest**, **Playwright** tests `tests/e2e/` |</a:t>
            </a:r>
          </a:p>
          <a:p>
            <a:r>
              <a:t>| Mobile | **Vitest** + Maestro YAML |</a:t>
            </a:r>
          </a:p>
          <a:p>
            <a:r>
              <a:t>| CI | `ci.yml` enchaîne install + gates + tests mobile + backend clusters |</a:t>
            </a:r>
          </a:p>
          <a:p/>
          <a:p>
            <a:r>
              <a:t>Honêteté : **couverture exacte non recopiée** ici → lire dernier rapport CI local.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n°45</a:t>
            </a:r>
          </a:p>
          <a:p>
            <a:r>
              <a:t>Source : MEMOIRE_AUDIT_SOUTENANCE_COMPLET.md</a:t>
            </a:r>
          </a:p>
          <a:p/>
          <a:p>
            <a:r>
              <a:t>## 26. Design patterns observés</a:t>
            </a:r>
          </a:p>
          <a:p/>
          <a:p>
            <a:r>
              <a:t>Middleware chain ; Service layer ; Provider pattern React ; Implicit Repository Prisma ; Socket pub/sub maps ; Possibly Strategy via multiple limiters.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n°46</a:t>
            </a:r>
          </a:p>
          <a:p>
            <a:r>
              <a:t>Source : MEMOIRE_AUDIT_SOUTENANCE_COMPLET.md</a:t>
            </a:r>
          </a:p>
          <a:p/>
          <a:p>
            <a:r>
              <a:t>## 27. Scalabilité — réponses archetypes</a:t>
            </a:r>
          </a:p>
          <a:p/>
          <a:p>
            <a:r>
              <a:t>| Charge | Leviers |</a:t>
            </a:r>
          </a:p>
          <a:p>
            <a:r>
              <a:t>|-------|---------|</a:t>
            </a:r>
          </a:p>
          <a:p>
            <a:r>
              <a:t>| 10k | replicas, redis cache/auth, optimise queries feed, CDN |</a:t>
            </a:r>
          </a:p>
          <a:p>
            <a:r>
              <a:t>| 1M | shards difficiles — read replicas, queue async, split read/write critical paths |</a:t>
            </a:r>
          </a:p>
          <a:p/>
          <a:p>
            <a:r>
              <a:t>Bottleneck probable : Postgres sur features read-heavy sans cache.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n°47</a:t>
            </a:r>
          </a:p>
          <a:p>
            <a:r>
              <a:t>Source : MEMOIRE_AUDIT_SOUTENANCE_COMPLET.md</a:t>
            </a:r>
          </a:p>
          <a:p/>
          <a:p>
            <a:r>
              <a:t>## 28. Métriques &amp; mesures</a:t>
            </a:r>
          </a:p>
          <a:p/>
          <a:p>
            <a:r>
              <a:t>Pas de jeu de valeurs inclus (non rejoués ici) — utiliser :</a:t>
            </a:r>
          </a:p>
          <a:p/>
          <a:p>
            <a:r>
              <a:t>- `npm run build` + analyzer si besoin  </a:t>
            </a:r>
          </a:p>
          <a:p>
            <a:r>
              <a:t>- `npm run lhci`  </a:t>
            </a:r>
          </a:p>
          <a:p>
            <a:r>
              <a:t>- Scripts load-test backend  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n°48</a:t>
            </a:r>
          </a:p>
          <a:p>
            <a:r>
              <a:t>Source : MEMOIRE_AUDIT_SOUTENANCE_COMPLET.md</a:t>
            </a:r>
          </a:p>
          <a:p/>
          <a:p>
            <a:r>
              <a:t>## 29. Choix techniques &amp; compromis synthèse tableau</a:t>
            </a:r>
          </a:p>
          <a:p/>
          <a:p>
            <a:r>
              <a:t>Voir annexe décision Slide / section 15 réponses dispersées — articuler systématiquement « gain / prix / mitigation ».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n°49</a:t>
            </a:r>
          </a:p>
          <a:p>
            <a:r>
              <a:t>Source : MEMOIRE_AUDIT_SOUTENANCE_COMPLET.md</a:t>
            </a:r>
          </a:p>
          <a:p/>
          <a:p>
            <a:r>
              <a:t>## 30. Erreurs &amp; défaillances possibles</a:t>
            </a:r>
          </a:p>
          <a:p/>
          <a:p>
            <a:r>
              <a:t>- API down ⇒ query retries + OfflineBanner (`App.jsx` import présent).  </a:t>
            </a:r>
          </a:p>
          <a:p>
            <a:r>
              <a:t>- Webhooks mal signés ⇒ rejet (tests).  </a:t>
            </a:r>
          </a:p>
          <a:p>
            <a:r>
              <a:t>- Redis absent ⇒ dégradations rate-limit/cache distribués.  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n°50</a:t>
            </a:r>
          </a:p>
          <a:p>
            <a:r>
              <a:t>Source : MEMOIRE_AUDIT_SOUTENANCE_COMPLET.md</a:t>
            </a:r>
          </a:p>
          <a:p/>
          <a:p>
            <a:r>
              <a:t>## 31. Démo live — scénario</a:t>
            </a:r>
          </a:p>
          <a:p/>
          <a:p>
            <a:r>
              <a:t>1. Landing/home feed PWA OU Expo home.  </a:t>
            </a:r>
          </a:p>
          <a:p>
            <a:r>
              <a:t>2. Marketplace léger OU wallet en staging données anonymes.  </a:t>
            </a:r>
          </a:p>
          <a:p>
            <a:r>
              <a:t>3. Message/socket visible (si environnement stable).  </a:t>
            </a:r>
          </a:p>
          <a:p>
            <a:r>
              <a:t>**Plan B** : vidéo MP4 hors ligne ou captures trois panneaux.  </a:t>
            </a:r>
          </a:p>
          <a:p>
            <a:r>
              <a:t>**À éviter** : modifier lecteur vidéo en direct si règles projet internes.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n°51</a:t>
            </a:r>
          </a:p>
          <a:p>
            <a:r>
              <a:t>Source : MEMOIRE_AUDIT_SOUTENANCE_COMPLET.md</a:t>
            </a:r>
          </a:p>
          <a:p/>
          <a:p>
            <a:r>
              <a:t>## 32. Analyse critique personnelle (modèle)</a:t>
            </a:r>
          </a:p>
          <a:p/>
          <a:p>
            <a:r>
              <a:t>« Si je reprenais le temps T0 : je documenterais une **carte domaine lisible hors Prisma**. Je pousserais avant **tracing distribué** et **budgets erreurs API** avant d’ajouter des routes. Ce que ce projet valide comme compétence : **raison système sous surcharge fonctionnelle**. »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n°52</a:t>
            </a:r>
          </a:p>
          <a:p>
            <a:r>
              <a:t>Source : MEMOIRE_AUDIT_SOUTENANCE_COMPLET.md</a:t>
            </a:r>
          </a:p>
          <a:p/>
          <a:p>
            <a:r>
              <a:t>## 33. Version finale slides — principes design</a:t>
            </a:r>
          </a:p>
          <a:p/>
          <a:p>
            <a:r>
              <a:t>Palette sombre pro (#0F172A / cyan accents), **titres courts**, **diagramme dominant**, animations fade courtes uniquement.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n°53</a:t>
            </a:r>
          </a:p>
          <a:p>
            <a:r>
              <a:t>Source : MEMOIRE_AUDIT_SOUTENANCE_COMPLET.md</a:t>
            </a:r>
          </a:p>
          <a:p/>
          <a:p>
            <a:r>
              <a:t>## 34. Checklist pré-soutenance</a:t>
            </a:r>
          </a:p>
          <a:p/>
          <a:p>
            <a:r>
              <a:t>**Avant** : backend up, `.env` complet non commité, jeux données anonymisés, export PDF slides, Démo rehearsal 2 fois, liste chemins fichier pour Q&amp;R imprimée.  </a:t>
            </a:r>
          </a:p>
          <a:p/>
          <a:p>
            <a:r>
              <a:t>**Pendant** : temps alloué réserve Q&amp;R, hydration, éviter jargon non défini première occurrence.  </a:t>
            </a:r>
          </a:p>
          <a:p/>
          <a:p>
            <a:r>
              <a:t>**Après** : noter angles morts jury.</a:t>
            </a:r>
          </a:p>
          <a:p/>
          <a:p>
            <a:r>
              <a:t>---</a:t>
            </a:r>
          </a:p>
          <a:p/>
          <a:p>
            <a:r>
              <a:t>_Généré à partir du dépôt AfriWonder disponible localement — mise à jour recommandée si branches divergent._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n°54</a:t>
            </a:r>
          </a:p>
          <a:p>
            <a:r>
              <a:t>Source : MEMOIRE_AUDIT_SOUTENANCE_COMPLET.md</a:t>
            </a:r>
          </a:p>
          <a:p/>
          <a:p>
            <a:r>
              <a:t>[SECTION SENSIBLE — ne pas partager l’écran]</a:t>
            </a:r>
          </a:p>
          <a:p/>
          <a:p>
            <a:r>
              <a:t>## Appendice A — Banque élargie « questions piège » (format court mémo — PRIVÉ)</a:t>
            </a:r>
          </a:p>
          <a:p/>
          <a:p>
            <a:r>
              <a:t>**Légende lectures :** ★ = préparer une mini-démonstration fichier ; ✗ = ne jamais répondre ainsi.</a:t>
            </a:r>
          </a:p>
          <a:p/>
          <a:p>
            <a:r>
              <a:t>| # | Question prof | Testé | ✗Réponse piège | ✓Court | ✓Détail (bouche oreille) | Plan B oral | Tags |</a:t>
            </a:r>
          </a:p>
          <a:p>
            <a:r>
              <a:t>|---|---------------|-------|----------------|---------|---------------------------|-------------|------|</a:t>
            </a:r>
          </a:p>
          <a:p>
            <a:r>
              <a:t>| A01 | Pourquoi 3 replicas Compose ? | cap infra | « Parce que Docker le fait » | Tolérance aux pannes / charge lecture API stateless | Nginx distribue · instances sans état locale session | « Pattern classique LB + replicas » | HA |</a:t>
            </a:r>
          </a:p>
          <a:p>
            <a:r>
              <a:t>| A02 | Où passe l’état session WS ? | stateful websocket | « Dans Express » tout seul | Maps mémoire + Redis si clusters | Mémoire process par défaut ⇒ adapter Redis N&gt;1 sans sticky | « Socket.io idiom + Redis adapter » | sticky |</a:t>
            </a:r>
          </a:p>
          <a:p>
            <a:r>
              <a:t>| A03 | Votre IA prédit la fraude ? | honnêteté AI Engine | Oui niveau prod | Liste admin illustrative + stub métriques 0 dans service | Commentaire fichier `aiEngine.service.ts` : modèles Prisma désactivés | « Tableau fonctionnel incomplet sans modèles activés » | stub |</a:t>
            </a:r>
          </a:p>
          <a:p>
            <a:r>
              <a:t>| A04 | Whisper toujours dispo ? | config runtime | Toujours | Seulement si `OPENAI_API_KEY` configuré | Sinon erreur fonctionnelle explicite côté service | « Intégration optionnelle clé serveur uniquement » | secret |</a:t>
            </a:r>
          </a:p>
          <a:p>
            <a:r>
              <a:t>| A05 | Next.js SSR pour SEO marketplace ? | stack | Confirme Next alors que Vite | SEO limité SPA ; possible pré-renders ciblés / meta dynamiques différent | Vrai stack vite single-page ⇒ stratégie SEO = choix conscient | « PWA SPA documentée vite.config » | SEO |</a:t>
            </a:r>
          </a:p>
          <a:p>
            <a:r>
              <a:t>| A06 | GraphQL évite overfetch ? | comparaison API | Répondre oui générique | Notre complexité métier ⇒ REST segmenté fichiers routes | Gain GraphQL contre coût cache/couche schema sur 133 route files | « Pragmatisme surface existante » | REST |</a:t>
            </a:r>
          </a:p>
          <a:p>
            <a:r>
              <a:t>| A07 | Monolithe vs microservices rupture où ? | DDD runtime | Dire « modules indépendants runtime » faux | Modularité codebase / frontière DB encore unique | Séparation véritable impose réseaux + cohérence distribuée | « Monolith modulaire aujourd’hui » | BC |</a:t>
            </a:r>
          </a:p>
          <a:p>
            <a:r>
              <a:t>| A08 | Liste noire JWT comment scale ? | stockage révocation | « Impossible » | Redis / store partagé | Accepte latence lookup vs session DB full | « Hybride stateless + store » | jti |</a:t>
            </a:r>
          </a:p>
          <a:p>
            <a:r>
              <a:t>| A09 | Idempotence webhook OM ? | paiements | « On crédite deux fois pour fiabilité » | Clé idempotence + tests Jest | Pointer tests `orange-money.webhook.test.ts` | « Idempotency testée en CI » | webhook |</a:t>
            </a:r>
          </a:p>
          <a:p>
            <a:r>
              <a:t>| A10 | Comment éviter N+1 sur feed ? | ORM | « Prisma magique » | select/include contrôlés + pagination | Mesurer queries ; indexes sur colonnes filtrage | « Discipline requêtes &amp; indexes » | perf |</a:t>
            </a:r>
          </a:p>
          <a:p>
            <a:r>
              <a:t>| A11 | E2EE messages prêts ? | lecture schéma | Oui partout | Flag &amp; commentaire « implémentation à venir » sur User | Honnêteté sur module partiel | « Roadmap crypto client » | e2ee |</a:t>
            </a:r>
          </a:p>
          <a:p>
            <a:r>
              <a:t>| A12 | Pourquoi Expo pas bare RN ? | tooling | « Simple » vague | Time-to-market + native modules packagés | Tradeoff taille binaire / flexibilité | « Productivité &amp; modules first-party » | Expo |</a:t>
            </a:r>
          </a:p>
          <a:p>
            <a:r>
              <a:t>| A13 | Zod partout ? | validation | Oui absolu | Schémas sur routes critiques ; à cartographier sur toutes | Surface API impose revue progressive | « Pattern standard route sensible » | zod |</a:t>
            </a:r>
          </a:p>
          <a:p>
            <a:r>
              <a:t>| A14 | Observabilité suffisante ? | ops | Oui Sentry fini | Sentry + Prometheus hooks ; SLI à définir | Besoin dashboards &amp; alertes runtime | « Fondation observabilité — SLI à compléter » | SLO |</a:t>
            </a:r>
          </a:p>
          <a:p>
            <a:r>
              <a:t>| A15 | Comment réagir perte Postgres ? | DR | « On perd tout » acceptable | backups PITR + réplication infra | Hors code mais attendu ingénieur | « Stratégie backup hors application » | DR |</a:t>
            </a:r>
          </a:p>
          <a:p>
            <a:r>
              <a:t>| A16 | Duplicate route conflict ? | cohésion repo | Dire jamais | Tests + swagger + lint peuvent passer mais logique métier collision possible | Vigilance reviewer sur naming mount path | « Revues humaines critiques » | review |</a:t>
            </a:r>
          </a:p>
          <a:p>
            <a:r>
              <a:t>| A17 | CORS wildcard possible ? | sécurité credentials | Dire oui vite | Non `*` avec cookies interdit navigateur ; code filtre previews | app.ts rationale commentée | « Conformité specs navigateur » | CORS |</a:t>
            </a:r>
          </a:p>
          <a:p>
            <a:r>
              <a:t>| A18 | Quel bottleneck 1ère charge feed ? | réseau &amp; DB | Un seul coupable | Compose latence CDN + queries + prefetch | Profiler réel terrain | « Diagnostiquer avec mesures » | LCP |</a:t>
            </a:r>
          </a:p>
          <a:p>
            <a:r>
              <a:t>| A19 | Minimize bundle Radix tout import ? | front perf | Ignore | Treeshaking Vite généralement mais imports ciblés idéal | Auditor bundle rollup visualizer si besoin | « Vérifier rapport build » | tree |</a:t>
            </a:r>
          </a:p>
          <a:p>
            <a:r>
              <a:t>| A20 | Concurrency même wallet row ? | SQL | Mutex JS | Transactions isolations SERIALIZABLE/select for update où nécessaire | Pointer services wallet précisément en Q&amp;R après lecture | « Transaction BD garantit cohérence » | tx |</a:t>
            </a:r>
          </a:p>
          <a:p/>
          <a:p>
            <a:r>
              <a:t>*(Étendre la table par vous-même : copier les 20 lignes et varier angles « supply chain », « GDPR », « childrens safety pages», `publicPages.routes.ts` pour stores.)*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 document : Mémoire ingénieur (complet)</a:t>
            </a:r>
          </a:p>
          <a:p>
            <a:r>
              <a:t>Fichier : C:\Users\Hp\Downloads\AfriWonder\docs\soutenance\MEMOIRE_SOUTENANCE_INGENIEUR_COMPLET.md</a:t>
            </a:r>
          </a:p>
          <a:p/>
          <a:p>
            <a:r>
              <a:t>(Ouvre les diapos suivantes avec le panneau Notes.)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n°56</a:t>
            </a:r>
          </a:p>
          <a:p>
            <a:r>
              <a:t>Source : MEMOIRE_SOUTENANCE_INGENIEUR_COMPLET.md</a:t>
            </a:r>
          </a:p>
          <a:p/>
          <a:p>
            <a:r>
              <a:t>## Mémoire de soutenance — AfriWonder (niveau ingénieur)</a:t>
            </a:r>
          </a:p>
          <a:p/>
          <a:p>
            <a:r>
              <a:t>**Étudiant :** Abdoulaye Fanel  </a:t>
            </a:r>
          </a:p>
          <a:p>
            <a:r>
              <a:t>**Encadrant :** Professeur Hamza Kalfi  </a:t>
            </a:r>
          </a:p>
          <a:p>
            <a:r>
              <a:t>**Projet :** AfriWonder — plateforme type super-app (vidéo sociale, marketplace, services, messagerie, lives, wallet, nombreux modules verticaux)  </a:t>
            </a:r>
          </a:p>
          <a:p>
            <a:r>
              <a:t>**Supports code principaux analysés pour ce mémoire :** `backend/src/app.ts`, `backend/src/index.ts`, `backend/prisma/schema.prisma`, `frontend/package.json` &amp; arborescence Expo, racine `package.json` / `src/App.jsx` (PWA Vite), `.github/workflows/ci.yml`, `docker-compose.prod.yml`, services IA/traduction ciblés (`translate.routes.ts`, `aiEngine.service.ts`), middleware auth &amp; rate-limit.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n°57</a:t>
            </a:r>
          </a:p>
          <a:p>
            <a:r>
              <a:t>Source : MEMOIRE_SOUTENANCE_INGENIEUR_COMPLET.md</a:t>
            </a:r>
          </a:p>
          <a:p/>
          <a:p>
            <a:r>
              <a:t>## Méthodologie (transparence exigée par un jury strict)</a:t>
            </a:r>
          </a:p>
          <a:p/>
          <a:p>
            <a:r>
              <a:t>Ce document **ne remplace pas** une revue où chaque fichier serait lu séquence par séquence. La démarche utilisée pour rester **alignée sur le code réel** sans inventer est :</a:t>
            </a:r>
          </a:p>
          <a:p/>
          <a:p>
            <a:r>
              <a:t>| Levier | Ce qui a été fait |</a:t>
            </a:r>
          </a:p>
          <a:p>
            <a:r>
              <a:t>|--------|-------------------|</a:t>
            </a:r>
          </a:p>
          <a:p>
            <a:r>
              <a:t>| **Entrées serveur** | Lecture de la chaîne middleware + montage Express dans `backend/src/app.ts`, démarrage HTTP + Socket.IO + jobs dans `backend/src/index.ts`. |</a:t>
            </a:r>
          </a:p>
          <a:p>
            <a:r>
              <a:t>| **Données** | `backend/prisma/schema.prisma` : **PostgreSQL** ; décompte automatique **`model`** → **≈100 modèles** (ordre de grandeur exact du fichier au moment de l’analyse). |</a:t>
            </a:r>
          </a:p>
          <a:p>
            <a:r>
              <a:t>| **Clients** | PWA racine (**Vite + React**, **pas Next.js**) via `src/App.jsx` ; mobile **Expo ~54 / RN 0.81** via `frontend/`. |</a:t>
            </a:r>
          </a:p>
          <a:p>
            <a:r>
              <a:t>| **Industrialisation** | Lecture partielle `.github/workflows/ci.yml` ; présence Docker `docker-compose*.yml`. |</a:t>
            </a:r>
          </a:p>
          <a:p>
            <a:r>
              <a:t>| **Cas IA** | `translate.routes.ts` (HTTP vers LibreTranslate / MyMemory — pas de LLM propriétaire embarqué ici) ; `aiEngine.service.ts` (**stub / placeholders** avec commentaire schéma Prisma IA désactivé). |</a:t>
            </a:r>
          </a:p>
          <a:p/>
          <a:p>
            <a:r>
              <a:t>Ce qui **nécessiterait mesure terrain** (Lighthouse, P95 prod, RAM mobile) est **signalé comme tel** dans la §28 ; ce qui est **hypothétique sans déploiement observé** est marqué **« à valider »**.</a:t>
            </a:r>
          </a:p>
          <a:p/>
          <a:p>
            <a:r>
              <a:t>---</a:t>
            </a:r>
          </a:p>
          <a:p/>
          <a:p>
            <a:r>
              <a:t>&lt;!-- NUM:1 --&gt;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n°58</a:t>
            </a:r>
          </a:p>
          <a:p>
            <a:r>
              <a:t>Source : MEMOIRE_SOUTENANCE_INGENIEUR_COMPLET.md</a:t>
            </a:r>
          </a:p>
          <a:p/>
          <a:p>
            <a:r>
              <a:t>## 1. Présentation générale du projet</a:t>
            </a:r>
          </a:p>
          <a:p/>
          <a:p>
            <a:r>
              <a:t>| Volet | Synthèse appuyée sur le dépôt |</a:t>
            </a:r>
          </a:p>
          <a:p>
            <a:r>
              <a:t>|-------|-------------------------------|</a:t>
            </a:r>
          </a:p>
          <a:p>
            <a:r>
              <a:t>| **Nom** | AfriWonder (`afriwonder-app` en racine ; backend `afriwonder-backend`). |</a:t>
            </a:r>
          </a:p>
          <a:p>
            <a:r>
              <a:t>| **Objectif** | Offrir une **super-app web + mobile** adossée à **une même API Node/Express** avec persistance relationnelle riche (**Prisma sur PostgreSQL**). |</a:t>
            </a:r>
          </a:p>
          <a:p>
            <a:r>
              <a:t>| **Problème** | Contexte où **connectivité** et **coûts data** contraignent l’usage ; dispersion des usages (social, commerce, services) peut fragmenter l’UX et la confiance (**wallet / paiements**). |</a:t>
            </a:r>
          </a:p>
          <a:p>
            <a:r>
              <a:t>| **Public / cas d’usage** | Grand public, créateurs, vendeurs ; usage mixte découverte de contenus, commerce, réservations, messaging, événements, etc. (**surface API très large**, voir liste de routeurs montés dans `app.ts`). |</a:t>
            </a:r>
          </a:p>
          <a:p>
            <a:r>
              <a:t>| **Valeur ajoutée** | **Une identité métier utilisateur pivot** dans le schéma Prisma (**`User`** avec très nombreuses relations) ; exposition **REST + Swagger** (`swagger-ui-express`) ; temps réel **Socket.IO** (cf. `index.ts`). |</a:t>
            </a:r>
          </a:p>
          <a:p>
            <a:r>
              <a:t>| **Différenciation** | Profondeur **fonctionnelle modulaire** (routes domaine par domaine) + **discipline tooling** (`verify:*`, CI multi-jobs) plutôt qu’un simple CRUD trois tables. |</a:t>
            </a:r>
          </a:p>
          <a:p/>
          <a:p>
            <a:r>
              <a:t>**Important pour le jury :** cette base est un **monorepo industriellement ambitieux**, pas une démo minimalist ; la soutenance gagne à être **factuelle et à cadrer le périmètre démontrable**.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n°59</a:t>
            </a:r>
          </a:p>
          <a:p>
            <a:r>
              <a:t>Source : MEMOIRE_SOUTENANCE_INGENIEUR_COMPLET.md</a:t>
            </a:r>
          </a:p>
          <a:p/>
          <a:p>
            <a:r>
              <a:t>## 2. Analyse fonctionnelle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n°60</a:t>
            </a:r>
          </a:p>
          <a:p>
            <a:r>
              <a:t>Source : MEMOIRE_SOUTENANCE_INGENIEUR_COMPLET.md</a:t>
            </a:r>
          </a:p>
          <a:p/>
          <a:p>
            <a:r>
              <a:t>## 2.1 Fonctionnalités principales &amp; secondaires (déduit de `backend/src/app.ts`)</a:t>
            </a:r>
          </a:p>
          <a:p/>
          <a:p>
            <a:r>
              <a:t>Le backend monte successivement les domaines : **auth, vidéos, commentaires, utilisateurs, produits/commandes/panier/paiements, wallet (routes dédiées), livraisons, réservations prestataires, lives, nouvelles, messages, traduction**, modules **mobilité, restauration, santé, immobilier, assurance**, créateurs/marketplaces, mini-apps développeurs, recherche/reco, IA admin (`aiEngine` / BI), proxies médias (`proxy.routes`),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n°61</a:t>
            </a:r>
          </a:p>
          <a:p>
            <a:r>
              <a:t>Source : MEMOIRE_SOUTENANCE_INGENIEUR_COMPLET.md</a:t>
            </a:r>
          </a:p>
          <a:p/>
          <a:p>
            <a:r>
              <a:t>## 2.2 Parcours utilisateur-type (sans sur-spécifier hors code)</a:t>
            </a:r>
          </a:p>
          <a:p/>
          <a:p>
            <a:r>
              <a:t>Parcours logique vérifiable côté modèle **`User`** : inscription → JWT / cookies (**`authenticate`** lit Bearer **ou** `access_token` httpOnly cf. `middleware/auth.ts`) → usages sociaux &amp; commerce (**relations Prisma multiples**) → actifs financiers (**wallet / withdrawals / payments** évidents dans imports routes).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n°62</a:t>
            </a:r>
          </a:p>
          <a:p>
            <a:r>
              <a:t>Source : MEMOIRE_SOUTENANCE_INGENIEUR_COMPLET.md</a:t>
            </a:r>
          </a:p>
          <a:p/>
          <a:p>
            <a:r>
              <a:t>## 2.3 Cas limites et erreurs (extraits représentatif)</a:t>
            </a:r>
          </a:p>
          <a:p/>
          <a:p>
            <a:r>
              <a:t>| Zone | Réaction observée dans le code |</a:t>
            </a:r>
          </a:p>
          <a:p>
            <a:r>
              <a:t>|------|-------------------------------|</a:t>
            </a:r>
          </a:p>
          <a:p>
            <a:r>
              <a:t>| **Auth** | 401 si token absent ; vérif **`jti`** révoquée via service liste noire (**`accessTokenBlacklist.service.ts`** invoquée dans auth). |</a:t>
            </a:r>
          </a:p>
          <a:p>
            <a:r>
              <a:t>| **Prod strict** | En production **`index.ts`** refuse démarrage si env critiques manquantes (DB, JWT, Sentry selon fichier). |</a:t>
            </a:r>
          </a:p>
          <a:p>
            <a:r>
              <a:t>| **Tokens JWT** | Exigences longueur clés JWT en prod (sanity check lisible dans `index.ts`). |</a:t>
            </a:r>
          </a:p>
          <a:p>
            <a:r>
              <a:t>| **Proxy médias** | Existence routeur **`proxy.routes.ts`** à détailler sous question jury (whitelist / SSRF).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n°63</a:t>
            </a:r>
          </a:p>
          <a:p>
            <a:r>
              <a:t>Source : MEMOIRE_SOUTENANCE_INGENIEUR_COMPLET.md</a:t>
            </a:r>
          </a:p>
          <a:p/>
          <a:p>
            <a:r>
              <a:t>## 2.4 Rôles</a:t>
            </a:r>
          </a:p>
          <a:p/>
          <a:p>
            <a:r>
              <a:t>Champ **`User.role`** chaîne avec défaut **`user`** (schéma Prisma ligne ~22–23 au début fichier) ; routes admin dédiées (ex. `aiEngine.routes.ts` passe **`requireAdmin`**).</a:t>
            </a:r>
          </a:p>
          <a:p/>
          <a:p>
            <a:r>
              <a:t>---</a:t>
            </a:r>
          </a:p>
          <a:p/>
          <a:p>
            <a:r>
              <a:t>&lt;!-- NUM:3 --&gt;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n°64</a:t>
            </a:r>
          </a:p>
          <a:p>
            <a:r>
              <a:t>Source : MEMOIRE_SOUTENANCE_INGENIEUR_COMPLET.md</a:t>
            </a:r>
          </a:p>
          <a:p/>
          <a:p>
            <a:r>
              <a:t>## 3. Architecture complète (niveau senior)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n°65</a:t>
            </a:r>
          </a:p>
          <a:p>
            <a:r>
              <a:t>Source : MEMOIRE_SOUTENANCE_INGENIEUR_COMPLET.md</a:t>
            </a:r>
          </a:p>
          <a:p/>
          <a:p>
            <a:r>
              <a:t>## 3.1 Architecture globale (texte diagrammatique → à dessiner aussi en Mermaid §18)</a:t>
            </a:r>
          </a:p>
          <a:p/>
          <a:p>
            <a:r>
              <a:t>```</a:t>
            </a:r>
          </a:p>
          <a:p>
            <a:r>
              <a:t>[PWA Vite/React] ──HTTPS──► [Express API : app.ts]</a:t>
            </a:r>
          </a:p>
          <a:p>
            <a:r>
              <a:t>[Expo / RN App] ──HTTPS────►           │</a:t>
            </a:r>
          </a:p>
          <a:p>
            <a:r>
              <a:t>                                         ├── Middlewares sécurité (helmet,</a:t>
            </a:r>
          </a:p>
          <a:p>
            <a:r>
              <a:t>                                         │    rate-limit multiples, sanitization…)</a:t>
            </a:r>
          </a:p>
          <a:p>
            <a:r>
              <a:t>                                         ├── Routes domaine (*.routes.ts)</a:t>
            </a:r>
          </a:p>
          <a:p>
            <a:r>
              <a:t>                                         ├── Validation (Zod — utils dédiées)</a:t>
            </a:r>
          </a:p>
          <a:p>
            <a:r>
              <a:t>                                         ├── Services métier (*.service.ts)</a:t>
            </a:r>
          </a:p>
          <a:p>
            <a:r>
              <a:t>                                         ├── ORM Prisma → PostgreSQL</a:t>
            </a:r>
          </a:p>
          <a:p>
            <a:r>
              <a:t>                                         └── Observabilité (Sentry), métriques, Swagger</a:t>
            </a:r>
          </a:p>
          <a:p/>
          <a:p>
            <a:r>
              <a:t>[WSS même origine ou adaptée prod] ◄── Socket.IO ◄── clients (voir index.ts jobs + maps call state)</a:t>
            </a:r>
          </a:p>
          <a:p>
            <a:r>
              <a:t>Redis optionnel (cache user auth, `@socket.io/redis-adapter`) — présence deps backend.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n°66</a:t>
            </a:r>
          </a:p>
          <a:p>
            <a:r>
              <a:t>Source : MEMOIRE_SOUTENANCE_INGENIEUR_COMPLET.md</a:t>
            </a:r>
          </a:p>
          <a:p/>
          <a:p>
            <a:r>
              <a:t>## 3.2 Choix architecture &amp; compromis</a:t>
            </a:r>
          </a:p>
          <a:p/>
          <a:p>
            <a:r>
              <a:t>| Choix | Pour | Contre | Pourquoi ici plausible |</a:t>
            </a:r>
          </a:p>
          <a:p>
            <a:r>
              <a:t>|-------|-----|-------|-------------------------|</a:t>
            </a:r>
          </a:p>
          <a:p>
            <a:r>
              <a:t>| **Monolithe Express modulaire** | Simplicité déploiement, cohérence transactionnelle inter-domaines | Risque coupling domaine/domaine ; fichiers très longs | Accélération itération projet étude + très grande surface fonctionnelle |</a:t>
            </a:r>
          </a:p>
          <a:p>
            <a:r>
              <a:t>| **PostgreSQL relationnel** | Intégrité ACID paiements/commandes ; jointures riches | Migration &amp; schéma lourds (**~100 models**) | Cohérent wallet &amp; marketplace réels dans le même socle métier |</a:t>
            </a:r>
          </a:p>
          <a:p/>
          <a:p>
            <a:r>
              <a:t>**Alternative non privilégiée** sans besoin équipe infra : explosion en microservices généralistes (couvert §27).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n°67</a:t>
            </a:r>
          </a:p>
          <a:p>
            <a:r>
              <a:t>Source : MEMOIRE_SOUTENANCE_INGENIEUR_COMPLET.md</a:t>
            </a:r>
          </a:p>
          <a:p/>
          <a:p>
            <a:r>
              <a:t>## 4. Analyse Frontend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n°68</a:t>
            </a:r>
          </a:p>
          <a:p>
            <a:r>
              <a:t>Source : MEMOIRE_SOUTENANCE_INGENIEUR_COMPLET.md</a:t>
            </a:r>
          </a:p>
          <a:p/>
          <a:p>
            <a:r>
              <a:t>## 4.1 PWA racine (**ce n’est pas Next.js**)</a:t>
            </a:r>
          </a:p>
          <a:p/>
          <a:p>
            <a:r>
              <a:t>| Technologie | Fichiers / Indices | Pourquoi (argument jury) |</a:t>
            </a:r>
          </a:p>
          <a:p>
            <a:r>
              <a:t>|-------------|---------------------|---------------------------|</a:t>
            </a:r>
          </a:p>
          <a:p>
            <a:r>
              <a:t>| **React 18 + Vite** | `package.json` racine deps + script `vite` ; `src/App.jsx` utilise `react-router-dom` | SPA rapide à servir statiquement, DX moderne ; code-split routes via lazy pages (`pagesConfig`). |</a:t>
            </a:r>
          </a:p>
          <a:p>
            <a:r>
              <a:t>| **TanStack Query** | `PersistQueryClientProvider`, `queryClientInstance` dans `src/App.jsx` | Cache HTTP structuré, reprise après refresh, patterns offline-ready (filtre persistance présent dans imports). |</a:t>
            </a:r>
          </a:p>
          <a:p>
            <a:r>
              <a:t>| **Radix/shadcn-like** | Nombreuses deps `@radix-ui/*` racine (`package.json`) | Accessibilité primitives, rendu UX produit densifié sans réinventer a11y. |</a:t>
            </a:r>
          </a:p>
          <a:p>
            <a:r>
              <a:t>| **PWA Workbox / plugin** | scripts `verify-pwa` ; stack documentée projet | Offline partiel stratégique (à détailler au jury selon vos tests réels). |</a:t>
            </a:r>
          </a:p>
          <a:p/>
          <a:p>
            <a:r>
              <a:t>**Erreurs classiques jury à éviter :** dire « nous sommes full Next » — **incorrect** dans ce repo (preuve : Router Vite, pas dossier Next).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n°69</a:t>
            </a:r>
          </a:p>
          <a:p>
            <a:r>
              <a:t>Source : MEMOIRE_SOUTENANCE_INGENIEUR_COMPLET.md</a:t>
            </a:r>
          </a:p>
          <a:p/>
          <a:p>
            <a:r>
              <a:t>## 4.2 Mobile Expo</a:t>
            </a:r>
          </a:p>
          <a:p/>
          <a:p>
            <a:r>
              <a:t>| Volet | Détails vérifiés |</a:t>
            </a:r>
          </a:p>
          <a:p>
            <a:r>
              <a:t>|-------|------------------|</a:t>
            </a:r>
          </a:p>
          <a:p>
            <a:r>
              <a:t>| **Meta** | `expo ~54`, `react-native ^0.81`, `react 19`, `expo-router` (**`frontend/package.json`**). |</a:t>
            </a:r>
          </a:p>
          <a:p>
            <a:r>
              <a:t>| **Temps réel** | `socket.io-client` présent deps. |</a:t>
            </a:r>
          </a:p>
          <a:p>
            <a:r>
              <a:t>| **Média / Lives** | `expo-video`, `react-native-agora`, stack WebRTC. |</a:t>
            </a:r>
          </a:p>
          <a:p>
            <a:r>
              <a:t>| **Monétisation** | `react-native-iap`. |</a:t>
            </a:r>
          </a:p>
          <a:p>
            <a:r>
              <a:t>| **État global** | `zustand` apparaît généralement côté app (stores `frontend/src/store/...`). |</a:t>
            </a:r>
          </a:p>
          <a:p>
            <a:r>
              <a:t>| **Sécu tokens** | `expo-secure-store` disponible deps.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n°70</a:t>
            </a:r>
          </a:p>
          <a:p>
            <a:r>
              <a:t>Source : MEMOIRE_SOUTENANCE_INGENIEUR_COMPLET.md</a:t>
            </a:r>
          </a:p>
          <a:p/>
          <a:p>
            <a:r>
              <a:t>## 4.3 Appels réseau mobile vs PWA</a:t>
            </a:r>
          </a:p>
          <a:p/>
          <a:p>
            <a:r>
              <a:t>Règle projet `.cursor/rules` : préférer proxy `/api/proxy` depuis mobile — à **mentionner comme contrainte d’archi &amp; CORS**.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n°71</a:t>
            </a:r>
          </a:p>
          <a:p>
            <a:r>
              <a:t>Source : MEMOIRE_SOUTENANCE_INGENIEUR_COMPLET.md</a:t>
            </a:r>
          </a:p>
          <a:p/>
          <a:p>
            <a:r>
              <a:t>## 5. Analyse Backend</a:t>
            </a:r>
          </a:p>
          <a:p/>
          <a:p>
            <a:r>
              <a:t>| Couche | Technologie réelle |</a:t>
            </a:r>
          </a:p>
          <a:p>
            <a:r>
              <a:t>|--------|-------------------|</a:t>
            </a:r>
          </a:p>
          <a:p>
            <a:r>
              <a:t>| **Runtime** | Node 20 (CI `.github/workflows/ci.yml`) ; TypeScript `backend/src`. |</a:t>
            </a:r>
          </a:p>
          <a:p>
            <a:r>
              <a:t>| **HTTP** | **Express** ; multiples **middlewares** avant routes (voir extrait imports `app.ts`). |</a:t>
            </a:r>
          </a:p>
          <a:p>
            <a:r>
              <a:t>| **Validation** | Zod via utilitaires `utils/zodValidation.ts` utilisés routes (patterns répétés). |</a:t>
            </a:r>
          </a:p>
          <a:p>
            <a:r>
              <a:t>| **Auth** | **JWT (`jsonwebtoken`)** avec canal **cookies httpOnly ou Bearer** ; cache Redis **TTL 30s** profil utilisateur (**`middleware/auth.ts`** extrait lu). Lib **`jose`** dans deps (usage à préciser si question). |</a:t>
            </a:r>
          </a:p>
          <a:p>
            <a:r>
              <a:t>| **Temps réel** | **Socket.IO** serveur ; maps en mémoire pour appels (`index.ts` extrait). |</a:t>
            </a:r>
          </a:p>
          <a:p>
            <a:r>
              <a:t>| **Cache / rate-limit distribué** | `rate-limit-redis`, `@socket.io/redis-adapter` dans `backend/package.json`. |</a:t>
            </a:r>
          </a:p>
          <a:p>
            <a:r>
              <a:t>| **Stockage objets** | `@aws-sdk/client-s3`, presigner — upload scalabilité médias à expliquer. |</a:t>
            </a:r>
          </a:p>
          <a:p>
            <a:r>
              <a:t>| **Paiements externes** | `stripe`, scripts tests webhooks (**`stripe.webhook.test.ts`**, **`orange-money.webhook.test.ts`** références `package.json` scripts). |</a:t>
            </a:r>
          </a:p>
          <a:p/>
          <a:p>
            <a:r>
              <a:t>**Pattern dominant :** MVC-like Express (**Router → middleware auth → validation → controller inline ou service**) — observation structurelle fichier routes.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n°72</a:t>
            </a:r>
          </a:p>
          <a:p>
            <a:r>
              <a:t>Source : MEMOIRE_SOUTENANCE_INGENIEUR_COMPLET.md</a:t>
            </a:r>
          </a:p>
          <a:p/>
          <a:p>
            <a:r>
              <a:t>## 6. Base de données</a:t>
            </a:r>
          </a:p>
          <a:p/>
          <a:p>
            <a:r>
              <a:t>| Point | Détail |</a:t>
            </a:r>
          </a:p>
          <a:p>
            <a:r>
              <a:t>|-------|-------|</a:t>
            </a:r>
          </a:p>
          <a:p>
            <a:r>
              <a:t>| **Moteur** | **PostgreSQL** (datasource `provider = postgresql"` — Prisma fichier schema). |</a:t>
            </a:r>
          </a:p>
          <a:p>
            <a:r>
              <a:t>| **ORM** | **Prisma ~7.8** (`"@prisma/client": "7.8.0"` backend `package.json`). |</a:t>
            </a:r>
          </a:p>
          <a:p>
            <a:r>
              <a:t>| **Modélisation** | **User pivot** relié massivement autres entités (relation list dans extrait lignes ~53–80+). |</a:t>
            </a:r>
          </a:p>
          <a:p>
            <a:r>
              <a:t>| **Migrations** | Scripts `db:migrate*`, dossier prisma migrations présent projet. |</a:t>
            </a:r>
          </a:p>
          <a:p>
            <a:r>
              <a:t>| **Transactions** | Prisma permet transactions explicites (à citer exemple service sensible si interrogé précisément). |</a:t>
            </a:r>
          </a:p>
          <a:p/>
          <a:p>
            <a:r>
              <a:t>Pourquoi **SQL** vs NoSQL générique : garanties forte cohérence sur **paiements/commandes/portefeuille** bien plus simples relationnellement qu’avec un document-store sans discipline transactionnelle lourde.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n°73</a:t>
            </a:r>
          </a:p>
          <a:p>
            <a:r>
              <a:t>Source : MEMOIRE_SOUTENANCE_INGENIEUR_COMPLET.md</a:t>
            </a:r>
          </a:p>
          <a:p/>
          <a:p>
            <a:r>
              <a:t>## 7. IA / Machine Learning (présent dans le périmètre — avec honnêteté)</a:t>
            </a:r>
          </a:p>
          <a:p/>
          <a:p>
            <a:r>
              <a:t>| Composant | Réalité code |</a:t>
            </a:r>
          </a:p>
          <a:p>
            <a:r>
              <a:t>|-----------|---------------|</a:t>
            </a:r>
          </a:p>
          <a:p>
            <a:r>
              <a:t>| **Traduction automatique HTTP** | `translate.routes.ts` : appels **`LIBRETRANSLATE_URL`** (défaut instance publique libretranslate.de) ; secours **`MyMemory`** ; garde-corps corruption traduction (**`isLikelyCorruptTranslation`**). Ce n’est **pas** du fine tuning de modèle. |</a:t>
            </a:r>
          </a:p>
          <a:p>
            <a:r>
              <a:t>| **`aiEngine.service.ts`** | **Stub** avec commentaire « modèles Prisma IA désactivés » ; valeurs **`0` / []** ; **`getAIFeatures`** retourne tableau **marketing hardcodé avec précisions fictives**. **Danger soutenance si vous présentez cela comme un moteur ML entraîné.** Formulation sécurisée : « **Socle routes admin + stubs en attente de données &amp; modèle** ». |</a:t>
            </a:r>
          </a:p>
          <a:p>
            <a:r>
              <a:t>| **Modération chatbot routes** | `chatbot.routes.ts` existe — détail comportement nécessite lecture fichier complémentaire.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n°74</a:t>
            </a:r>
          </a:p>
          <a:p>
            <a:r>
              <a:t>Source : MEMOIRE_SOUTENANCE_INGENIEUR_COMPLET.md</a:t>
            </a:r>
          </a:p>
          <a:p/>
          <a:p>
            <a:r>
              <a:t>## 8. DevOps &amp; déploiement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n°75</a:t>
            </a:r>
          </a:p>
          <a:p>
            <a:r>
              <a:t>Source : MEMOIRE_SOUTENANCE_INGENIEUR_COMPLET.md</a:t>
            </a:r>
          </a:p>
          <a:p/>
          <a:p>
            <a:r>
              <a:t>## 8.1 CI/CD (vérifiable `.github/workflows/ci.yml`)</a:t>
            </a:r>
          </a:p>
          <a:p/>
          <a:p>
            <a:r>
              <a:t>Jobs observés au début du fichier :</a:t>
            </a:r>
          </a:p>
          <a:p/>
          <a:p>
            <a:r>
              <a:t>1. **`pr-line-budget`** — PR ajouts+suppressions **`≤ 400`** lignes.</a:t>
            </a:r>
          </a:p>
          <a:p>
            <a:r>
              <a:t>2. **`typecheck-and-lint`** — `npm run verify:quality-gates`.</a:t>
            </a:r>
          </a:p>
          <a:p>
            <a:r>
              <a:t>3. **`test-mobile-expo`** — **`npm ci` frontend** puis **`vitest` couverture** + **`npm audit --audit-level=high`**.</a:t>
            </a:r>
          </a:p>
          <a:p>
            <a:r>
              <a:t>4. (Suite fichier non tout lue : typiquement backend Jest, E2E Playwright selon projet racine.)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n°76</a:t>
            </a:r>
          </a:p>
          <a:p>
            <a:r>
              <a:t>Source : MEMOIRE_SOUTENANCE_INGENIEUR_COMPLET.md</a:t>
            </a:r>
          </a:p>
          <a:p/>
          <a:p>
            <a:r>
              <a:t>## 8.2 Conteneurs</a:t>
            </a:r>
          </a:p>
          <a:p/>
          <a:p>
            <a:r>
              <a:t>Fichiers `docker-compose.prod.yml`, `docker-compose.prod-1m.yml`, scaling / replication présents (**à rattacher narration** scaling horizontal &amp; LB).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n°77</a:t>
            </a:r>
          </a:p>
          <a:p>
            <a:r>
              <a:t>Source : MEMOIRE_SOUTENANCE_INGENIEUR_COMPLET.md</a:t>
            </a:r>
          </a:p>
          <a:p/>
          <a:p>
            <a:r>
              <a:t>## 9. Sécurité (liste de contrôle projet)</a:t>
            </a:r>
          </a:p>
          <a:p/>
          <a:p>
            <a:r>
              <a:t>Mesures lisibles depuis imports `app.ts` + auth :</a:t>
            </a:r>
          </a:p>
          <a:p/>
          <a:p>
            <a:r>
              <a:t>| Menace OWASP-ish | Réponse codebase |</a:t>
            </a:r>
          </a:p>
          <a:p>
            <a:r>
              <a:t>|------------------|-----------------|</a:t>
            </a:r>
          </a:p>
          <a:p>
            <a:r>
              <a:t>| **Injection SQL** | **Prisma requêtes paramétrées** (baseline). |</a:t>
            </a:r>
          </a:p>
          <a:p>
            <a:r>
              <a:t>| **XSS** | Politiques navigateur **`helmet`**, sanitization middleware (`sanitizeInputMiddleware`). |</a:t>
            </a:r>
          </a:p>
          <a:p>
            <a:r>
              <a:t>| **CSRF** | Middleware dédié `csrfProtectionMiddleware` (avec cookies auth). |</a:t>
            </a:r>
          </a:p>
          <a:p>
            <a:r>
              <a:t>| **Abuse / DoS léger** | Multiples **`express-rate-limit`** profils (**authLimiter, payments...**). |</a:t>
            </a:r>
          </a:p>
          <a:p>
            <a:r>
              <a:t>| **Bot / spam heuristique** | `antiBot`, `antiSpam`. |</a:t>
            </a:r>
          </a:p>
          <a:p>
            <a:r>
              <a:t>| **Observabilité &amp; timeouts** | `apiRequestTimeoutMiddleware`, `httpMetricsMiddleware`, Prometheus exposition service. |</a:t>
            </a:r>
          </a:p>
          <a:p/>
          <a:p>
            <a:r>
              <a:t>**Révocations JWT** via **`jti` + blacklist** (cf. authenticate).</a:t>
            </a:r>
          </a:p>
          <a:p/>
          <a:p>
            <a:r>
              <a:t>**À ne pas présenter comme parfait** : surface API énorme → revue exhaustive humaine peu réaliste ; posture honnête = **gates automatisées + défense profonde + revue progressive modules critiques (paiement, uploads, proxy)**.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n°78</a:t>
            </a:r>
          </a:p>
          <a:p>
            <a:r>
              <a:t>Source : MEMOIRE_SOUTENANCE_INGENIEUR_COMPLET.md</a:t>
            </a:r>
          </a:p>
          <a:p/>
          <a:p>
            <a:r>
              <a:t>## 10. Performance &amp; optimisation (ce qui existe vs ce qu’il faut mesurer)</a:t>
            </a:r>
          </a:p>
          <a:p/>
          <a:p>
            <a:r>
              <a:t>| Technique (présente) | Où / comment le dire |</a:t>
            </a:r>
          </a:p>
          <a:p>
            <a:r>
              <a:t>|----------------------|----------------------|</a:t>
            </a:r>
          </a:p>
          <a:p>
            <a:r>
              <a:t>| **Compression HTTP backend** | `compression` middleware import `app.ts`. |</a:t>
            </a:r>
          </a:p>
          <a:p>
            <a:r>
              <a:t>| **ETag forte** | `app.set('etag','strong')` dans `app.ts`. |</a:t>
            </a:r>
          </a:p>
          <a:p>
            <a:r>
              <a:t>| **Code splitting PWA** | Lazy routing via système pages `pagesConfig.glob` préchargement ciblé `CORE_ROUTE_PRELOADS`/`SECONDARY` dans `src/App.jsx`. |</a:t>
            </a:r>
          </a:p>
          <a:p>
            <a:r>
              <a:t>| **Métrique front projet** | Racine propose `npm run lhci` &amp; `sitespeed:local` — **chiffres = résultats machine réelle**. |</a:t>
            </a:r>
          </a:p>
          <a:p>
            <a:r>
              <a:t>| **Load test backend** | script `LOAD_TARGET_RPS=1000` — **stress lab** pas preuve SLA prod sans conditions réseau.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n°79</a:t>
            </a:r>
          </a:p>
          <a:p>
            <a:r>
              <a:t>Source : MEMOIRE_SOUTENANCE_INGENIEUR_COMPLET.md</a:t>
            </a:r>
          </a:p>
          <a:p/>
          <a:p>
            <a:r>
              <a:t>## 11. Difficultés rencontrées (types plausibles + ancrage règle/code)</a:t>
            </a:r>
          </a:p>
          <a:p/>
          <a:p>
            <a:r>
              <a:t>Créez votre **liste personnelle véridique** ; types **cohérents** observés dans le projet :</a:t>
            </a:r>
          </a:p>
          <a:p/>
          <a:p>
            <a:r>
              <a:t>| Thème | Indices dépôt | Angle oral |</a:t>
            </a:r>
          </a:p>
          <a:p>
            <a:r>
              <a:t>|-------|---------------|-----------|</a:t>
            </a:r>
          </a:p>
          <a:p>
            <a:r>
              <a:t>| **Vidéo + réseaux instables** | PWA optimise offline &amp; bannières lent (`SlowConnectionBanner` import `App.jsx`) | Itérations UX + buffering (ne pas extrapoler hors ce que vous avez mesurés). |</a:t>
            </a:r>
          </a:p>
          <a:p>
            <a:r>
              <a:t>| **Android LAN vs localhost** | Règle workspace `frontend/src/config/backendBase.ts` décrite (`mobile-android-backend-url.mdc`) | Sonde IP packager avant 10.0.2.2. |</a:t>
            </a:r>
          </a:p>
          <a:p>
            <a:r>
              <a:t>| **Complexité schéma Prisma** | ~100 `model` → risques N+1, migrations | Profiler requêtes hot path feed / wallet avant optimiser aveuglément.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n°80</a:t>
            </a:r>
          </a:p>
          <a:p>
            <a:r>
              <a:t>Source : MEMOIRE_SOUTENANCE_INGENIEUR_COMPLET.md</a:t>
            </a:r>
          </a:p>
          <a:p/>
          <a:p>
            <a:r>
              <a:t>## 12. Compétences acquises (taxonomie)</a:t>
            </a:r>
          </a:p>
          <a:p/>
          <a:p>
            <a:r>
              <a:t>Regroupements **vérifiables** : Express avancé, Prisma grande surface, JWT &amp; cookies sécurité, sockets, upload + sharp, paiements webhook tests, expo-router &amp; modules natifs, Vitest/Jest suites, CI multi-plateforme, infra Docker Compose.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n°81</a:t>
            </a:r>
          </a:p>
          <a:p>
            <a:r>
              <a:t>Source : MEMOIRE_SOUTENANCE_INGENIEUR_COMPLET.md</a:t>
            </a:r>
          </a:p>
          <a:p/>
          <a:p>
            <a:r>
              <a:t>## 13. Limites honnêtes</a:t>
            </a:r>
          </a:p>
          <a:p/>
          <a:p>
            <a:r>
              <a:t>1. **Surface fonctionnelle / dette cognitive** très élevée.</a:t>
            </a:r>
          </a:p>
          <a:p>
            <a:r>
              <a:t>2. **IA « engine » stub** tant que données &amp; pipelines non reliés (**risque narration survente §7**).</a:t>
            </a:r>
          </a:p>
          <a:p>
            <a:r>
              <a:t>3. **Pas de garantie automatique absence faille métier-specific** sans menace modeling documenté bout à bout chaque flux sensibles.</a:t>
            </a:r>
          </a:p>
          <a:p>
            <a:r>
              <a:t>4. **Monolithe** : point unique panne avant redondance &amp; circuit breakers niveau infra.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n°82</a:t>
            </a:r>
          </a:p>
          <a:p>
            <a:r>
              <a:t>Source : MEMOIRE_SOUTENANCE_INGENIEUR_COMPLET.md</a:t>
            </a:r>
          </a:p>
          <a:p/>
          <a:p>
            <a:r>
              <a:t>## 14. Améliorations futures (roadmap réaliste)</a:t>
            </a:r>
          </a:p>
          <a:p/>
          <a:p>
            <a:r>
              <a:t>| Piste | Intérêt |</a:t>
            </a:r>
          </a:p>
          <a:p>
            <a:r>
              <a:t>|-------|---------|</a:t>
            </a:r>
          </a:p>
          <a:p>
            <a:r>
              <a:t>| **Bounded contexts séparés progressivement** (modules paiement &amp; social) | Réduit couplage. |</a:t>
            </a:r>
          </a:p>
          <a:p>
            <a:r>
              <a:t>| **Files async** (traitement média, STT) | Découple latence utilisateur vs workers. |</a:t>
            </a:r>
          </a:p>
          <a:p>
            <a:r>
              <a:t>| **Feature flags** | Déjà présent côté PWA (**`FeatureFlagsProvider`**) à étendre côté API. |</a:t>
            </a:r>
          </a:p>
          <a:p>
            <a:r>
              <a:t>| **Tests perf ciblés** k6 avec scénarios feed/auth | Objective scalabilité. |</a:t>
            </a:r>
          </a:p>
          <a:p/>
          <a:p>
            <a:r>
              <a:t>---</a:t>
            </a:r>
          </a:p>
          <a:p/>
          <a:p>
            <a:r>
              <a:t>&lt;!-- NUM:15 --&gt;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n°83</a:t>
            </a:r>
          </a:p>
          <a:p>
            <a:r>
              <a:t>Source : MEMOIRE_SOUTENANCE_INGENIEUR_COMPLET.md</a:t>
            </a:r>
          </a:p>
          <a:p/>
          <a:p>
            <a:r>
              <a:t>## 15. Questions techniques jury (extrait représentatif – format compact)</a:t>
            </a:r>
          </a:p>
          <a:p/>
          <a:p>
            <a:r>
              <a:t>Pour une **liste plus longue brute (60+ lignes courte réponse)** — développer à l’oral ; espace fichier limitée ici. Chaque carte = **Réponse courte (30 s)** + **Mots-clés**.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n°84</a:t>
            </a:r>
          </a:p>
          <a:p>
            <a:r>
              <a:t>Source : MEMOIRE_SOUTENANCE_INGENIEUR_COMPLET.md</a:t>
            </a:r>
          </a:p>
          <a:p/>
          <a:p>
            <a:r>
              <a:t>## Architecture &amp; généralités</a:t>
            </a:r>
          </a:p>
          <a:p/>
          <a:p>
            <a:r>
              <a:t>**Q1** Pourquoi monolithe Express finalement ? → **Une base transactionnelle + déploiement simple + cohérence API unique ; segmentation déjà fichier routes.** Mots-clés : *SSR single deploy, cohesion, iterative extraction.*</a:t>
            </a:r>
          </a:p>
          <a:p/>
          <a:p>
            <a:r>
              <a:t>**Q2** Risque spaghetti ? → **Risque réel mais mitigé Zod/services/jobs/tests ; remediation progressive bounded contexts.**</a:t>
            </a:r>
          </a:p>
          <a:p/>
          <a:p>
            <a:r>
              <a:t>**Q3** Où vivent vos règles métier ? → **Souvent dans `backend/src/services/*.service.ts`, pas routers énormes (à exemplifier dossier lisible).**</a:t>
            </a:r>
          </a:p>
          <a:p/>
          <a:p>
            <a:r>
              <a:t>**Q4** GraphQL envisageable ? → **Possible gateway plus tard ; REST actuel optimise intégration mobile/PWA générique &amp; proxies médias.**</a:t>
            </a:r>
          </a:p>
          <a:p/>
          <a:p>
            <a:r>
              <a:t>**Q5** Comment versionner votre API ? → **Évoquer versioning future `/api/v1` (standards projet mention AGENTS si existant)** — **ne pas inventer si pas global ; vérifier routes réelles.**</a:t>
            </a:r>
          </a:p>
          <a:p/>
          <a:p>
            <a:r>
              <a:t>**Q6** Que se passe-t-il sans Redis ? → **Auth passe DB direct (cache désactivée silencieusement commentaire auth) ; rate-limit peut dépendre mémoire process**.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n°85</a:t>
            </a:r>
          </a:p>
          <a:p>
            <a:r>
              <a:t>Source : MEMOIRE_SOUTENANCE_INGENIEUR_COMPLET.md</a:t>
            </a:r>
          </a:p>
          <a:p/>
          <a:p>
            <a:r>
              <a:t>## Sécurité</a:t>
            </a:r>
          </a:p>
          <a:p/>
          <a:p>
            <a:r>
              <a:t>**Q7** Pourquoi JWT + cookies httpOnly ensemble ? → **Compat mobile headers + navigations SPA cookies ; surface double canal doc auth.**</a:t>
            </a:r>
          </a:p>
          <a:p/>
          <a:p>
            <a:r>
              <a:t>**Q8** CSRF encore pertinent avec bearer mobile ? → **Oui partie navigateur utilise cookies.**</a:t>
            </a:r>
          </a:p>
          <a:p/>
          <a:p>
            <a:r>
              <a:t>**Q9** SSRF médias comment contrôlez-vous domaines → **Voir implémentation `proxy.routes.ts` (préparation : relire fichier avant soutenance)**.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n°86</a:t>
            </a:r>
          </a:p>
          <a:p>
            <a:r>
              <a:t>Source : MEMOIRE_SOUTENANCE_INGENIEUR_COMPLET.md</a:t>
            </a:r>
          </a:p>
          <a:p/>
          <a:p>
            <a:r>
              <a:t>## Données</a:t>
            </a:r>
          </a:p>
          <a:p/>
          <a:p>
            <a:r>
              <a:t>**Q10** Taille schéma ? → **`~100` modèles Prisma ; onboarding dev coûteux mais expressivité forte.**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n°87</a:t>
            </a:r>
          </a:p>
          <a:p>
            <a:r>
              <a:t>Source : MEMOIRE_SOUTENANCE_INGENIEUR_COMPLET.md</a:t>
            </a:r>
          </a:p>
          <a:p/>
          <a:p>
            <a:r>
              <a:t>## Temps réel</a:t>
            </a:r>
          </a:p>
          <a:p/>
          <a:p>
            <a:r>
              <a:t>**Q11** Scaler Socket.IO ? → **Réplicas stateless + `@socket.io/redis-adapter`.**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n°88</a:t>
            </a:r>
          </a:p>
          <a:p>
            <a:r>
              <a:t>Source : MEMOIRE_SOUTENANCE_INGENIEUR_COMPLET.md</a:t>
            </a:r>
          </a:p>
          <a:p/>
          <a:p>
            <a:r>
              <a:t>## Mobile</a:t>
            </a:r>
          </a:p>
          <a:p/>
          <a:p>
            <a:r>
              <a:t>**Q12** Pourquoi Expo ? → **Vélocité build, OTA potentiel modules, libs natives (camera, IAP).**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n°89</a:t>
            </a:r>
          </a:p>
          <a:p>
            <a:r>
              <a:t>Source : MEMOIRE_SOUTENANCE_INGENIEUR_COMPLET.md</a:t>
            </a:r>
          </a:p>
          <a:p/>
          <a:p>
            <a:r>
              <a:t>## PWA vs Mobile divergences UX</a:t>
            </a:r>
          </a:p>
          <a:p/>
          <a:p>
            <a:r>
              <a:t>**Q13** Double maintenance UI ? → **Coû assumé pour reach web + natives ; TanStack queries partagent patterns.**</a:t>
            </a:r>
          </a:p>
          <a:p/>
          <a:p>
            <a:r>
              <a:t>*(Ajoutez jusqu’à 90 variantes personnelles selon vos modules utilisés jour J — modèle PROMPT juré : Pour chaque dossier fonctionnel utilisé pendant démo prépare « endpoint + service principal + erreur métier». )*</a:t>
            </a:r>
          </a:p>
          <a:p/>
          <a:p>
            <a:r>
              <a:t>*(Questions supplémentaires numérotées : voir `docs/soutenance/ANNEXE_QUESTIONS_JURY_TECHNIQUES.md` — complétez avec vos modules de démo.)*</a:t>
            </a:r>
          </a:p>
          <a:p/>
          <a:p>
            <a:r>
              <a:t>&gt; **Important :** Complétez systématiquement les questions où ce mémoire met « relire fichier X » avant oral.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n°90</a:t>
            </a:r>
          </a:p>
          <a:p>
            <a:r>
              <a:t>Source : MEMOIRE_SOUTENANCE_INGENIEUR_COMPLET.md</a:t>
            </a:r>
          </a:p>
          <a:p/>
          <a:p>
            <a:r>
              <a:t>## 16. Script oral (plans de timing)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n°91</a:t>
            </a:r>
          </a:p>
          <a:p>
            <a:r>
              <a:t>Source : MEMOIRE_SOUTENANCE_INGENIEUR_COMPLET.md</a:t>
            </a:r>
          </a:p>
          <a:p/>
          <a:p>
            <a:r>
              <a:t>## 16.1 Version **5 minutes** (tronc très dense)</a:t>
            </a:r>
          </a:p>
          <a:p/>
          <a:p>
            <a:r>
              <a:t>| Bloc Temps | Contenu oral |</a:t>
            </a:r>
          </a:p>
          <a:p>
            <a:r>
              <a:t>|-----------|---------------|</a:t>
            </a:r>
          </a:p>
          <a:p>
            <a:r>
              <a:t>| 0–0:45 | Problème connectivité + dispersion services ; ambition AfriWonder. |</a:t>
            </a:r>
          </a:p>
          <a:p>
            <a:r>
              <a:t>| 0:45–1:45 | Triptyque **PWA Vite/React + Expo + API Express/Prisma/Postgres**. |</a:t>
            </a:r>
          </a:p>
          <a:p>
            <a:r>
              <a:t>| 1:45–3:00 | **Sécurité &amp; qualité**: JWT+jti blacklist, helmets, CSRF, rate-limit, CI PR≤400 lignes tests mobile+backend pattern. |</a:t>
            </a:r>
          </a:p>
          <a:p>
            <a:r>
              <a:t>| 3–4:15 | Démo très courte (feed ou wallet sans exposer données perso). |</a:t>
            </a:r>
          </a:p>
          <a:p>
            <a:r>
              <a:t>| 4:15–5 | Limites (monolithique, IA stub) &amp; perspectives files async + modularisation honnête.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n°92</a:t>
            </a:r>
          </a:p>
          <a:p>
            <a:r>
              <a:t>Source : MEMOIRE_SOUTENANCE_INGENIEUR_COMPLET.md</a:t>
            </a:r>
          </a:p>
          <a:p/>
          <a:p>
            <a:r>
              <a:t>## 16.2 Version **10 minutes**</a:t>
            </a:r>
          </a:p>
          <a:p/>
          <a:p>
            <a:r>
              <a:t>Ajouter : parcours utilisateur exemple (JWT → création vidéo → commerce → wallet) ; schéma **User pivot** verbal ; préciser Socket.IO séparation chat vs média (**Agora** mobile deps) ; erreurs typiques interceptées (**401 blacklist**).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n°93</a:t>
            </a:r>
          </a:p>
          <a:p>
            <a:r>
              <a:t>Source : MEMOIRE_SOUTENANCE_INGENIEUR_COMPLET.md</a:t>
            </a:r>
          </a:p>
          <a:p/>
          <a:p>
            <a:r>
              <a:t>## 16.3 Version **15 minutes**</a:t>
            </a:r>
          </a:p>
          <a:p/>
          <a:p>
            <a:r>
              <a:t>Ajouter : architecture infra **Nginx multiples backends** narration docker-compose lecture rapide slide ; webhook paiement principe (signature + idempotence **à préciser fichier test que vous citez**) ; partie **traduction LibreTranslate/MyMemory**.</a:t>
            </a:r>
          </a:p>
          <a:p/>
          <a:p>
            <a:r>
              <a:t>**Transitions exemple :** « Après avoir cadré le besoin terrain, je passe à la cohérence technique… », « Pour ne pas caricaturer une super-app réduite au feed, voici trois domaines représentatif… », « Pour conclure sur l’honêteté ingénieur, voici ce qui reste conscientiellement incomplet ».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n°94</a:t>
            </a:r>
          </a:p>
          <a:p>
            <a:r>
              <a:t>Source : MEMOIRE_SOUTENANCE_INGENIEUR_COMPLET.md</a:t>
            </a:r>
          </a:p>
          <a:p/>
          <a:p>
            <a:r>
              <a:t>## 17. Support slides PowerPoint (ordre conseillé, texte léger à l’écran)</a:t>
            </a:r>
          </a:p>
          <a:p/>
          <a:p>
            <a:r>
              <a:t>Voir aussi `docs/soutenance/generate_soutenance_pptx.py` (**13 slides généré**) comme base puis enrichir :</a:t>
            </a:r>
          </a:p>
          <a:p/>
          <a:p>
            <a:r>
              <a:t>| Slide | Titre conseillé | Visuel dominant |</a:t>
            </a:r>
          </a:p>
          <a:p>
            <a:r>
              <a:t>|-------|-----------------|----------------|</a:t>
            </a:r>
          </a:p>
          <a:p>
            <a:r>
              <a:t>| 1 | Titre + identité | Logo texte stylisé A |</a:t>
            </a:r>
          </a:p>
          <a:p>
            <a:r>
              <a:t>| 2 | Problématiques terrain | 3 icônes connectivité / dispersion / monétisation |</a:t>
            </a:r>
          </a:p>
          <a:p>
            <a:r>
              <a:t>| 3 | Réponse triptyque | Colonnes PWA / Mobile / API centrale |</a:t>
            </a:r>
          </a:p>
          <a:p>
            <a:r>
              <a:t>| 4 | Parcours | 4 étapes fléchées |</a:t>
            </a:r>
          </a:p>
          <a:p>
            <a:r>
              <a:t>| 5 | Archi globale | Blocs Nginx / Express / Socket / Redis / PG |</a:t>
            </a:r>
          </a:p>
          <a:p>
            <a:r>
              <a:t>| 6 | Stack comparée | Tableau 3 colonnes |</a:t>
            </a:r>
          </a:p>
          <a:p>
            <a:r>
              <a:t>| 7 | Données étoile | User centre |</a:t>
            </a:r>
          </a:p>
          <a:p>
            <a:r>
              <a:t>| 8 | Sécurité | Grille menace/capacité |</a:t>
            </a:r>
          </a:p>
          <a:p>
            <a:r>
              <a:t>| 9 | Temps réel | Téléphones + Socket + Agora |</a:t>
            </a:r>
          </a:p>
          <a:p>
            <a:r>
              <a:t>| 10 | CI/CD | Pipeline linéaire |</a:t>
            </a:r>
          </a:p>
          <a:p>
            <a:r>
              <a:t>| 11 | IA factuelle | Aujourd’hui / Demain |</a:t>
            </a:r>
          </a:p>
          <a:p>
            <a:r>
              <a:t>| 12 | Difficultés &amp; compétences | Cartes + nuage mots |</a:t>
            </a:r>
          </a:p>
          <a:p>
            <a:r>
              <a:t>| 13 | Merci + QR | Questions |</a:t>
            </a:r>
          </a:p>
          <a:p/>
          <a:p>
            <a:r>
              <a:t>**Texte écran :** mots-clés seulement ; détails **notes présentateur**.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n°95</a:t>
            </a:r>
          </a:p>
          <a:p>
            <a:r>
              <a:t>Source : MEMOIRE_SOUTENANCE_INGENIEUR_COMPLET.md</a:t>
            </a:r>
          </a:p>
          <a:p/>
          <a:p>
            <a:r>
              <a:t>## 18. Diagrammes à produire (Mermaid + outils)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n°96</a:t>
            </a:r>
          </a:p>
          <a:p>
            <a:r>
              <a:t>Source : MEMOIRE_SOUTENANCE_INGENIEUR_COMPLET.md</a:t>
            </a:r>
          </a:p>
          <a:p/>
          <a:p>
            <a:r>
              <a:t>## 18.1 Architecture globale (Mermaid)</a:t>
            </a:r>
          </a:p>
          <a:p/>
          <a:p>
            <a:r>
              <a:t>```mermaid</a:t>
            </a:r>
          </a:p>
          <a:p>
            <a:r>
              <a:t>flowchart LR</a:t>
            </a:r>
          </a:p>
          <a:p>
            <a:r>
              <a:t>  subgraph Clients</a:t>
            </a:r>
          </a:p>
          <a:p>
            <a:r>
              <a:t>    PWA[Vite React PWA]</a:t>
            </a:r>
          </a:p>
          <a:p>
            <a:r>
              <a:t>    MOB[Expo RN]</a:t>
            </a:r>
          </a:p>
          <a:p>
            <a:r>
              <a:t>  end</a:t>
            </a:r>
          </a:p>
          <a:p>
            <a:r>
              <a:t>  PWA --&gt;|HTTPS REST| API[Express API]</a:t>
            </a:r>
          </a:p>
          <a:p>
            <a:r>
              <a:t>  MOB --&gt;|HTTPS REST| API</a:t>
            </a:r>
          </a:p>
          <a:p>
            <a:r>
              <a:t>  PWA --&gt;|WSS| RT[Socket.IO]</a:t>
            </a:r>
          </a:p>
          <a:p>
            <a:r>
              <a:t>  MOB --&gt;|WSS| RT</a:t>
            </a:r>
          </a:p>
          <a:p>
            <a:r>
              <a:t>  API --&gt; PG[(PostgreSQL)]</a:t>
            </a:r>
          </a:p>
          <a:p>
            <a:r>
              <a:t>  API --&gt; Cache[(Redis optionnel)]</a:t>
            </a:r>
          </a:p>
          <a:p>
            <a:r>
              <a:t>  RT --&gt; Cache</a:t>
            </a:r>
          </a:p>
          <a:p>
            <a:r>
              <a:t>```</a:t>
            </a:r>
          </a:p>
          <a:p/>
          <a:p>
            <a:r>
              <a:t>**À expliquer au jury :** séparation **données relationnelles** vs **état éphémère cache** ; couche **temps réel** parallèle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n°97</a:t>
            </a:r>
          </a:p>
          <a:p>
            <a:r>
              <a:t>Source : MEMOIRE_SOUTENANCE_INGENIEUR_COMPLET.md</a:t>
            </a:r>
          </a:p>
          <a:p/>
          <a:p>
            <a:r>
              <a:t>## 18.2 Séquence auth simplifiée</a:t>
            </a:r>
          </a:p>
          <a:p/>
          <a:p>
            <a:r>
              <a:t>```mermaid</a:t>
            </a:r>
          </a:p>
          <a:p>
            <a:r>
              <a:t>sequenceDiagram</a:t>
            </a:r>
          </a:p>
          <a:p>
            <a:r>
              <a:t>  participant C as Client</a:t>
            </a:r>
          </a:p>
          <a:p>
            <a:r>
              <a:t>  participant A as API Express</a:t>
            </a:r>
          </a:p>
          <a:p>
            <a:r>
              <a:t>  participant R as Redis cache</a:t>
            </a:r>
          </a:p>
          <a:p>
            <a:r>
              <a:t>  participant D as Prisma/DB</a:t>
            </a:r>
          </a:p>
          <a:p>
            <a:r>
              <a:t>  C-&gt;&gt;A: Authorization Bearer / cookie access_token</a:t>
            </a:r>
          </a:p>
          <a:p>
            <a:r>
              <a:t>  A-&gt;&gt;A: verify JWT + jti revoke check</a:t>
            </a:r>
          </a:p>
          <a:p>
            <a:r>
              <a:t>  A-&gt;&gt;R: GET user cache</a:t>
            </a:r>
          </a:p>
          <a:p>
            <a:r>
              <a:t>  alt miss</a:t>
            </a:r>
          </a:p>
          <a:p>
            <a:r>
              <a:t>    R--&gt;&gt;A: null</a:t>
            </a:r>
          </a:p>
          <a:p>
            <a:r>
              <a:t>    A-&gt;&gt;D: findUnique user</a:t>
            </a:r>
          </a:p>
          <a:p>
            <a:r>
              <a:t>    A-&gt;&gt;R: SETEX 30s</a:t>
            </a:r>
          </a:p>
          <a:p>
            <a:r>
              <a:t>  else hit</a:t>
            </a:r>
          </a:p>
          <a:p>
            <a:r>
              <a:t>    R--&gt;&gt;A: user snapshot</a:t>
            </a:r>
          </a:p>
          <a:p>
            <a:r>
              <a:t>  end</a:t>
            </a:r>
          </a:p>
          <a:p>
            <a:r>
              <a:t>  A--&gt;&gt;C: 200 route métier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n°98</a:t>
            </a:r>
          </a:p>
          <a:p>
            <a:r>
              <a:t>Source : MEMOIRE_SOUTENANCE_INGENIEUR_COMPLET.md</a:t>
            </a:r>
          </a:p>
          <a:p/>
          <a:p>
            <a:r>
              <a:t>## 18.3 Outils recommandés</a:t>
            </a:r>
          </a:p>
          <a:p/>
          <a:p>
            <a:r>
              <a:t>| Besoin | Outil |</a:t>
            </a:r>
          </a:p>
          <a:p>
            <a:r>
              <a:t>|--------|-------|</a:t>
            </a:r>
          </a:p>
          <a:p>
            <a:r>
              <a:t>| Rapide itératif | **Excalidraw** / **Draw.io** |</a:t>
            </a:r>
          </a:p>
          <a:p>
            <a:r>
              <a:t>| Versionné dans Git | **Mermaid** (embed README / doc) |</a:t>
            </a:r>
          </a:p>
          <a:p>
            <a:r>
              <a:t>| UML lourd | **PlantUML** si habitudes école |</a:t>
            </a:r>
          </a:p>
          <a:p/>
          <a:p>
            <a:r>
              <a:t>**Comment lire devant un prof :** toujours nommer **source de vérité** (ex : « ce diagramme reflète `app.ts` + `index.ts` »).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n°99</a:t>
            </a:r>
          </a:p>
          <a:p>
            <a:r>
              <a:t>Source : MEMOIRE_SOUTENANCE_INGENIEUR_COMPLET.md</a:t>
            </a:r>
          </a:p>
          <a:p/>
          <a:p>
            <a:r>
              <a:t>## 19. Analyse critique du code (vue prof recruteur)</a:t>
            </a:r>
          </a:p>
          <a:p/>
          <a:p>
            <a:r>
              <a:t>| Critère | Observation prudente |</a:t>
            </a:r>
          </a:p>
          <a:p>
            <a:r>
              <a:t>|---------|---------------------|</a:t>
            </a:r>
          </a:p>
          <a:p>
            <a:r>
              <a:t>| **Modularité backend** | Bonne **séparation fichiers routes** ; risque **logique encore dans handlers** — échantillonner quelques services pour illustrer propreté variable. |</a:t>
            </a:r>
          </a:p>
          <a:p>
            <a:r>
              <a:t>| **Prisma massif** | Puissance + **friction cognitive** ; discipliner index &amp; requêtes select ciblées. |</a:t>
            </a:r>
          </a:p>
          <a:p>
            <a:r>
              <a:t>| **IA engine stub** | Dette **narrative** si mal présenté. |</a:t>
            </a:r>
          </a:p>
          <a:p>
            <a:r>
              <a:t>| **Tests** | Présence **Jest backend scripts riches** + **Vitest mobile** + **Playwright** racine → argument maturité si couverture réelle conforme gate.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n°100</a:t>
            </a:r>
          </a:p>
          <a:p>
            <a:r>
              <a:t>Source : MEMOIRE_SOUTENANCE_INGENIEUR_COMPLET.md</a:t>
            </a:r>
          </a:p>
          <a:p/>
          <a:p>
            <a:r>
              <a:t>## 20. Conclusion professionnelle</a:t>
            </a:r>
          </a:p>
          <a:p/>
          <a:p>
            <a:r>
              <a:t>AfriWonder est une **plateforme full-stack à large couverture fonctionnelle**, cohérente avec une **vision super-app**, appuyée sur un **socle Express/Prisma/Postgres éprouvé industriellement**, couplée à des **clients web &amp; natifs modernes**. La soutenance honnête met en avant : **architecture unifiée**, **sécurité en profondeur partielle mais structurée**, **industrialisation CI**, tout en assumant ouvertement **la dette cognitive** et les **zones stub (IA)** — signe de maturité ingénieur.</a:t>
            </a:r>
          </a:p>
          <a:p/>
          <a:p>
            <a:r>
              <a:t>---</a:t>
            </a:r>
          </a:p>
          <a:p/>
          <a:p>
            <a:r>
              <a:t>&lt;!-- PRIVATE START: section 21 reste dans ce fichier mais marquée NE PAS PROJETER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n°101</a:t>
            </a:r>
          </a:p>
          <a:p>
            <a:r>
              <a:t>Source : MEMOIRE_SOUTENANCE_INGENIEUR_COMPLET.md</a:t>
            </a:r>
          </a:p>
          <a:p/>
          <a:p>
            <a:r>
              <a:t>[SECTION SENSIBLE — ne pas partager l’écran]</a:t>
            </a:r>
          </a:p>
          <a:p/>
          <a:p>
            <a:r>
              <a:t>## 21. ⛔ SECTION PRIVÉE — Questions piège professeur (NE PAS PROJETER / NE PAS IMPRIMER POUR JURY)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n°102</a:t>
            </a:r>
          </a:p>
          <a:p>
            <a:r>
              <a:t>Source : MEMOIRE_SOUTENANCE_INGENIEUR_COMPLET.md</a:t>
            </a:r>
          </a:p>
          <a:p/>
          <a:p>
            <a:r>
              <a:t>[SECTION SENSIBLE — ne pas partager l’écran]</a:t>
            </a:r>
          </a:p>
          <a:p/>
          <a:p>
            <a:r>
              <a:t>## 21.1 Piège « IA magique »</a:t>
            </a:r>
          </a:p>
          <a:p/>
          <a:p>
            <a:r>
              <a:t>| Élément | Contenu |</a:t>
            </a:r>
          </a:p>
          <a:p>
            <a:r>
              <a:t>|---------|---------|</a:t>
            </a:r>
          </a:p>
          <a:p>
            <a:r>
              <a:t>| **Question exacte** | « Votre AI Engine avec 97 % précision fraude, c’est quel modèle entraîné sur combien de données ? » |</a:t>
            </a:r>
          </a:p>
          <a:p>
            <a:r>
              <a:t>| **Testée** | Honnêteté scientifique vs bullshit. |</a:t>
            </a:r>
          </a:p>
          <a:p>
            <a:r>
              <a:t>| **Erreurs à évoir** | Citer métriques `getAIFeatures`. |</a:t>
            </a:r>
          </a:p>
          <a:p>
            <a:r>
              <a:t>| **Réponse courte** | « Aujourd’hui c’est un **socle administratif + placeholders** ; les scores affichés ne sont pas des métriques de production. Les vraies capacités IA lourdes ne sont pas branchées sur des modèles entraînés maison. » |</a:t>
            </a:r>
          </a:p>
          <a:p>
            <a:r>
              <a:t>| **Réponse safe panique** | « Je dois être précis : certaines lignes sont des **valeurs démonstratives** pas validées offline. » |</a:t>
            </a:r>
          </a:p>
          <a:p>
            <a:r>
              <a:t>| **Mots-clés** | *hardcoded stub, roadmap, données labellisées, risque ethics*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n°103</a:t>
            </a:r>
          </a:p>
          <a:p>
            <a:r>
              <a:t>Source : MEMOIRE_SOUTENANCE_INGENIEUR_COMPLET.md</a:t>
            </a:r>
          </a:p>
          <a:p/>
          <a:p>
            <a:r>
              <a:t>[SECTION SENSIBLE — ne pas partager l’écran]</a:t>
            </a:r>
          </a:p>
          <a:p/>
          <a:p>
            <a:r>
              <a:t>## 21.2 Piège « Next.js »</a:t>
            </a:r>
          </a:p>
          <a:p/>
          <a:p>
            <a:r>
              <a:t>| Piège | Réponse courte |</a:t>
            </a:r>
          </a:p>
          <a:p>
            <a:r>
              <a:t>|-------|----------------|</a:t>
            </a:r>
          </a:p>
          <a:p>
            <a:r>
              <a:t>| Prof : « Pourquoi Next pour le SSR SEO ? » | « Le client web livré est **Vite SPA** avec routes React Router — choix orienté déploiement PWA statique et intégration actuelle ; Next n’est pas la stack racine ici. »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n°104</a:t>
            </a:r>
          </a:p>
          <a:p>
            <a:r>
              <a:t>Source : MEMOIRE_SOUTENANCE_INGENIEUR_COMPLET.md</a:t>
            </a:r>
          </a:p>
          <a:p/>
          <a:p>
            <a:r>
              <a:t>[SECTION SENSIBLE — ne pas partager l’écran]</a:t>
            </a:r>
          </a:p>
          <a:p/>
          <a:p>
            <a:r>
              <a:t>## 21.3 Piège scalabilité instantanée</a:t>
            </a:r>
          </a:p>
          <a:p/>
          <a:p>
            <a:r>
              <a:t>| Piège | Réponse courte |</a:t>
            </a:r>
          </a:p>
          <a:p>
            <a:r>
              <a:t>|-------|----------------|</a:t>
            </a:r>
          </a:p>
          <a:p>
            <a:r>
              <a:t>| « Vous tenez 1M utilisateurs demain ? » | « Sans mesures réelles je ne promets pas : les briques (**horizontal replicas, Redis adapter, LB**) sont prévues côté dépôt mais la preuve passe par tests de charge instrumentés et monitoring. »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n°105</a:t>
            </a:r>
          </a:p>
          <a:p>
            <a:r>
              <a:t>Source : MEMOIRE_SOUTENANCE_INGENIEUR_COMPLET.md</a:t>
            </a:r>
          </a:p>
          <a:p/>
          <a:p>
            <a:r>
              <a:t>[SECTION SENSIBLE — ne pas partager l’écran]</a:t>
            </a:r>
          </a:p>
          <a:p/>
          <a:p>
            <a:r>
              <a:t>## 21.4 Piège JWT « stateless absolu »</a:t>
            </a:r>
          </a:p>
          <a:p/>
          <a:p>
            <a:r>
              <a:t>| Piège | Réponse courte |</a:t>
            </a:r>
          </a:p>
          <a:p>
            <a:r>
              <a:t>|-------|----------------|</a:t>
            </a:r>
          </a:p>
          <a:p>
            <a:r>
              <a:t>| « JWT c’est 100 % stateless ? » | « J’ai un **mécanisme de révocation via jti / blacklist** et un **cache Redis profil** — c’est un compromis entre observabilité sécurité et charge DB. »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n°106</a:t>
            </a:r>
          </a:p>
          <a:p>
            <a:r>
              <a:t>Source : MEMOIRE_SOUTENANCE_INGENIEUR_COMPLET.md</a:t>
            </a:r>
          </a:p>
          <a:p/>
          <a:p>
            <a:r>
              <a:t>[SECTION SENSIBLE — ne pas partager l’écran]</a:t>
            </a:r>
          </a:p>
          <a:p/>
          <a:p>
            <a:r>
              <a:t>## 21.5 Liste des pièges probables additionnels</a:t>
            </a:r>
          </a:p>
          <a:p/>
          <a:p>
            <a:r>
              <a:t>1. Décrire précisément handshake Socket.IO auth (relire portion `index.ts`).  </a:t>
            </a:r>
          </a:p>
          <a:p>
            <a:r>
              <a:t>2. Idempotence webhook sans lire fichier test = danger.  </a:t>
            </a:r>
          </a:p>
          <a:p>
            <a:r>
              <a:t>3. Comparer Agora vs SFU maison sans benchmark = sortir « choix SDK intégration time-to-market ».  </a:t>
            </a:r>
          </a:p>
          <a:p>
            <a:r>
              <a:t>4. Prisma raw SQL performance : préparer 1 exemple `EXPLAIN` hypothétique ou honnête « pas encore produit ».  </a:t>
            </a:r>
          </a:p>
          <a:p>
            <a:r>
              <a:t>5. GDPR / rétention : jobs `dataRetention.job.ts` existent → **à relire avant questions légales**.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n°107</a:t>
            </a:r>
          </a:p>
          <a:p>
            <a:r>
              <a:t>Source : MEMOIRE_SOUTENANCE_INGENIEUR_COMPLET.md</a:t>
            </a:r>
          </a:p>
          <a:p/>
          <a:p>
            <a:r>
              <a:t>## 22. Conseils oraux &amp; stratégie soutenance</a:t>
            </a:r>
          </a:p>
          <a:p/>
          <a:p>
            <a:r>
              <a:t>| Situation | Stratégie |</a:t>
            </a:r>
          </a:p>
          <a:p>
            <a:r>
              <a:t>|-----------|-----------|</a:t>
            </a:r>
          </a:p>
          <a:p>
            <a:r>
              <a:t>| Question inconnue | « Je préfère ne pas spéculer : je peux regarder le fichier exact après ; à haut niveau voici l’invariant d’architecture… » |</a:t>
            </a:r>
          </a:p>
          <a:p>
            <a:r>
              <a:t>| Interruption | Pause 1 s, « Très bien, je réponds : … puis je reprends le fil … » |</a:t>
            </a:r>
          </a:p>
          <a:p>
            <a:r>
              <a:t>| Stress | Respiration + ancrage main sur pupitre ; ralentir débit 10 %. |</a:t>
            </a:r>
          </a:p>
          <a:p>
            <a:r>
              <a:t>| Justifier choix | **Contexte → contrainte → décision → trade-off → mitigation future**. |</a:t>
            </a:r>
          </a:p>
          <a:p>
            <a:r>
              <a:t>| Phrase pro | « Notre priorité était la cohérence transactionnelle du wallet avant la fragmentation microservices ». |</a:t>
            </a:r>
          </a:p>
          <a:p/>
          <a:p>
            <a:r>
              <a:t>**Erreurs fatales** : métriques inventées • stack fausse • nier stubs • promettre SLO sans monitoring.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n°108</a:t>
            </a:r>
          </a:p>
          <a:p>
            <a:r>
              <a:t>Source : MEMOIRE_SOUTENANCE_INGENIEUR_COMPLET.md</a:t>
            </a:r>
          </a:p>
          <a:p/>
          <a:p>
            <a:r>
              <a:t>## 23. UML &amp; modélisation (guides)</a:t>
            </a:r>
          </a:p>
          <a:p/>
          <a:p>
            <a:r>
              <a:t>| Diagramme | Utilité projet | Risque sans |</a:t>
            </a:r>
          </a:p>
          <a:p>
            <a:r>
              <a:t>|-----------|---------------|-------------|</a:t>
            </a:r>
          </a:p>
          <a:p>
            <a:r>
              <a:t>| **Cas d’utilisation macro** | Jury compréhension modules | dispersion |</a:t>
            </a:r>
          </a:p>
          <a:p>
            <a:r>
              <a:t>| **Composants** | illustrer couches Express / Prisma | confusion front/back |</a:t>
            </a:r>
          </a:p>
          <a:p>
            <a:r>
              <a:t>| **Déploiement** | Nginx multiples API | infra flou |</a:t>
            </a:r>
          </a:p>
          <a:p>
            <a:r>
              <a:t>| **Séquence paiement/webhook** | preuve sérieux financier | questions piège |</a:t>
            </a:r>
          </a:p>
          <a:p/>
          <a:p>
            <a:r>
              <a:t>Pas de classe UML géant (**~100 entités**) entier slide — **extrait représentatif** autour paiement/commande.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n°109</a:t>
            </a:r>
          </a:p>
          <a:p>
            <a:r>
              <a:t>Source : MEMOIRE_SOUTENANCE_INGENIEUR_COMPLET.md</a:t>
            </a:r>
          </a:p>
          <a:p/>
          <a:p>
            <a:r>
              <a:t>## 24. Méthodologie de développement (déduite artefacts)</a:t>
            </a:r>
          </a:p>
          <a:p/>
          <a:p>
            <a:r>
              <a:t>Signals : PR budget CI, multiples scripts **`verify:*`**, workflow GitHub Actions, docs standards (`AGENTS.md`). Présenter comme **iteration guidée gates qualité** plutôt que Scrum papier sauf vous avez vrai backlog prouvé.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n°110</a:t>
            </a:r>
          </a:p>
          <a:p>
            <a:r>
              <a:t>Source : MEMOIRE_SOUTENANCE_INGENIEUR_COMPLET.md</a:t>
            </a:r>
          </a:p>
          <a:p/>
          <a:p>
            <a:r>
              <a:t>## 25. Tests &amp; qualité logicielle (présence réelle)</a:t>
            </a:r>
          </a:p>
          <a:p/>
          <a:p>
            <a:r>
              <a:t>| Couche | Outil |</a:t>
            </a:r>
          </a:p>
          <a:p>
            <a:r>
              <a:t>|--------|-------|</a:t>
            </a:r>
          </a:p>
          <a:p>
            <a:r>
              <a:t>| Backend | **Jest** (`npm run test`, `coverage`) |</a:t>
            </a:r>
          </a:p>
          <a:p>
            <a:r>
              <a:t>| Expo | **Vitest** + **`maestro`** smoke YAML |</a:t>
            </a:r>
          </a:p>
          <a:p>
            <a:r>
              <a:t>| PWA racine | **Vitest**, **Playwright** (`tests/e2e`) |</a:t>
            </a:r>
          </a:p>
          <a:p>
            <a:r>
              <a:t>| Statique | **ESLint**, **TypeScript** tous packages |</a:t>
            </a:r>
          </a:p>
          <a:p/>
          <a:p>
            <a:r>
              <a:t>Phrase honnête : « Couverture inégale suivant modules — je connais nos zones densément testées (ex paiements webhook tests) ».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n°111</a:t>
            </a:r>
          </a:p>
          <a:p>
            <a:r>
              <a:t>Source : MEMOIRE_SOUTENANCE_INGENIEUR_COMPLET.md</a:t>
            </a:r>
          </a:p>
          <a:p/>
          <a:p>
            <a:r>
              <a:t>## 26. Design patterns identifiés</a:t>
            </a:r>
          </a:p>
          <a:p/>
          <a:p>
            <a:r>
              <a:t>| Pattern | Observation |</a:t>
            </a:r>
          </a:p>
          <a:p>
            <a:r>
              <a:t>|---------|-------------|</a:t>
            </a:r>
          </a:p>
          <a:p>
            <a:r>
              <a:t>| **Middleware chain** | Express standard (cross-cutting sécurité). |</a:t>
            </a:r>
          </a:p>
          <a:p>
            <a:r>
              <a:t>| **Service layer** | Fichiers `*.service.ts`. |</a:t>
            </a:r>
          </a:p>
          <a:p>
            <a:r>
              <a:t>| **Repository-like** | Prisma abstraction explicite. |</a:t>
            </a:r>
          </a:p>
          <a:p>
            <a:r>
              <a:t>| **Observer temps réel** | Socket events. |</a:t>
            </a:r>
          </a:p>
          <a:p>
            <a:r>
              <a:t>| **Rate limiting classique** | express-rate-limit. |</a:t>
            </a:r>
          </a:p>
          <a:p/>
          <a:p>
            <a:r>
              <a:t>Pas de Container IoC Spring-like complet — éviter assertion DI lourde.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n°112</a:t>
            </a:r>
          </a:p>
          <a:p>
            <a:r>
              <a:t>Source : MEMOIRE_SOUTENANCE_INGENIEUR_COMPLET.md</a:t>
            </a:r>
          </a:p>
          <a:p/>
          <a:p>
            <a:r>
              <a:t>## 27. Scalabilité (analyse factuelle progressive)</a:t>
            </a:r>
          </a:p>
          <a:p/>
          <a:p>
            <a:r>
              <a:t>Court terme : **vertical + replicas** + **Redis** + **optimisation requêtes**.  </a:t>
            </a:r>
          </a:p>
          <a:p>
            <a:r>
              <a:t>Moyen terme : **queues** + **read replicas PG** (non confirmé sans infra).  </a:t>
            </a:r>
          </a:p>
          <a:p>
            <a:r>
              <a:t>Long terme : extraction services à forte contention (paiement, feed read path).</a:t>
            </a:r>
          </a:p>
          <a:p/>
          <a:p>
            <a:r>
              <a:t>Analogie jury : « 10k utilisateurs simultanés actifs » impossible garantir sans courbes réelles → **pilote mesure**.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n°113</a:t>
            </a:r>
          </a:p>
          <a:p>
            <a:r>
              <a:t>Source : MEMOIRE_SOUTENANCE_INGENIEUR_COMPLET.md</a:t>
            </a:r>
          </a:p>
          <a:p/>
          <a:p>
            <a:r>
              <a:t>## 28. Métriques &amp; mesures (template honnête)</a:t>
            </a:r>
          </a:p>
          <a:p/>
          <a:p>
            <a:r>
              <a:t>| Métrique | Comment obtenir localement réel |</a:t>
            </a:r>
          </a:p>
          <a:p>
            <a:r>
              <a:t>|----------|--------------------------------|</a:t>
            </a:r>
          </a:p>
          <a:p>
            <a:r>
              <a:t>| **Bundle PWA** | Analyzer Vite après `npm run build` |</a:t>
            </a:r>
          </a:p>
          <a:p>
            <a:r>
              <a:t>| **Lighthouse** | `npm run lhci` dans conditions fixées README |</a:t>
            </a:r>
          </a:p>
          <a:p>
            <a:r>
              <a:t>| **Backend latence simulée** | `npm run load-test` backend |</a:t>
            </a:r>
          </a:p>
          <a:p>
            <a:r>
              <a:t>| **Couverture tests** | Rapports Jest/Vitest CI |</a:t>
            </a:r>
          </a:p>
          <a:p/>
          <a:p>
            <a:r>
              <a:t>Ne pas lire chiffres au jury sans capture écran session.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n°114</a:t>
            </a:r>
          </a:p>
          <a:p>
            <a:r>
              <a:t>Source : MEMOIRE_SOUTENANCE_INGENIEUR_COMPLET.md</a:t>
            </a:r>
          </a:p>
          <a:p/>
          <a:p>
            <a:r>
              <a:t>## 29. Choix techniques &amp; compromis (table)</a:t>
            </a:r>
          </a:p>
          <a:p/>
          <a:p>
            <a:r>
              <a:t>| Décision | Alternative écartée | Compromis |</a:t>
            </a:r>
          </a:p>
          <a:p>
            <a:r>
              <a:t>|----------|---------------------|-----------|</a:t>
            </a:r>
          </a:p>
          <a:p>
            <a:r>
              <a:t>| Express monolithe | Nest microkernel | vélocité / couplage |</a:t>
            </a:r>
          </a:p>
          <a:p>
            <a:r>
              <a:t>| PostgreSQL | Mongo | intégrité wallet |</a:t>
            </a:r>
          </a:p>
          <a:p>
            <a:r>
              <a:t>| Prisma | SQL brut | DX vs contrôle fin SQL |</a:t>
            </a:r>
          </a:p>
          <a:p>
            <a:r>
              <a:t>| JWT + blacklist | sessions serveur | scale vs révocation |</a:t>
            </a:r>
          </a:p>
          <a:p>
            <a:r>
              <a:t>| Vite SPA | Next SSR | simplicité déploiement vs SEO pur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n°115</a:t>
            </a:r>
          </a:p>
          <a:p>
            <a:r>
              <a:t>Source : MEMOIRE_SOUTENANCE_INGENIEUR_COMPLET.md</a:t>
            </a:r>
          </a:p>
          <a:p/>
          <a:p>
            <a:r>
              <a:t>## 30. Erreurs &amp; défaillances possibles</a:t>
            </a:r>
          </a:p>
          <a:p/>
          <a:p>
            <a:r>
              <a:t>| Point | Comportement attendu / mitigation |</a:t>
            </a:r>
          </a:p>
          <a:p>
            <a:r>
              <a:t>|-------|-----------------------------------|</a:t>
            </a:r>
          </a:p>
          <a:p>
            <a:r>
              <a:t>| DB down | API 5xx / health check (à vérifier handler) |</a:t>
            </a:r>
          </a:p>
          <a:p>
            <a:r>
              <a:t>| Redis down | dégradation cache / limiter |</a:t>
            </a:r>
          </a:p>
          <a:p>
            <a:r>
              <a:t>| Webhook signature fail | 4xx &amp; logs Sentry (selon impl) |</a:t>
            </a:r>
          </a:p>
          <a:p>
            <a:r>
              <a:t>| Bug client vidéo | fallback UX (règles internes front) |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n°116</a:t>
            </a:r>
          </a:p>
          <a:p>
            <a:r>
              <a:t>Source : MEMOIRE_SOUTENANCE_INGENIEUR_COMPLET.md</a:t>
            </a:r>
          </a:p>
          <a:p/>
          <a:p>
            <a:r>
              <a:t>## 31. Démo live (scénario)</a:t>
            </a:r>
          </a:p>
          <a:p/>
          <a:p>
            <a:r>
              <a:t>Ordre : **Login** (flou données) → **Feed scroll** (pas bruit like/scroll si instable) → **Marketplace light** → **Wallet lecture solde** (sandbox) → **Message notification** si temps.  </a:t>
            </a:r>
          </a:p>
          <a:p>
            <a:r>
              <a:t>Plan B : **vidéo MP4** + captures figées.  </a:t>
            </a:r>
          </a:p>
          <a:p>
            <a:r>
              <a:t>Pré-check : backend `.env`, device réseau, build release mobile installée.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n°117</a:t>
            </a:r>
          </a:p>
          <a:p>
            <a:r>
              <a:t>Source : MEMOIRE_SOUTENANCE_INGENIEUR_COMPLET.md</a:t>
            </a:r>
          </a:p>
          <a:p/>
          <a:p>
            <a:r>
              <a:t>## 32. Analyse critique personnelle (à personnaliser)</a:t>
            </a:r>
          </a:p>
          <a:p/>
          <a:p>
            <a:r>
              <a:t>Remplir au propre : ce que vous **regretteriez** (ex sur-spread features early), ce que vous **referiez** (tests par module critique d’abord), apprentissage **professionnel** (priorisation, sécurité pratico-pratique).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n°118</a:t>
            </a:r>
          </a:p>
          <a:p>
            <a:r>
              <a:t>Source : MEMOIRE_SOUTENANCE_INGENIEUR_COMPLET.md</a:t>
            </a:r>
          </a:p>
          <a:p/>
          <a:p>
            <a:r>
              <a:t>## 33. Version finale PowerPoint (rappel design)</a:t>
            </a:r>
          </a:p>
          <a:p/>
          <a:p>
            <a:r>
              <a:t>Palette : **#0B1121 fond**, **#F8FAFC texte**, **#38BDF8 / #F59E0B accents** — cohérent avec `generate_soutenance_pptx.py`.  </a:t>
            </a:r>
          </a:p>
          <a:p>
            <a:r>
              <a:t>Animations : **fondu 0,5 s** slide ; **apparitions** internes sobres.  </a:t>
            </a:r>
          </a:p>
          <a:p>
            <a:r>
              <a:t>Zéro paragraphe illisible : **1 idée = 1 picto ou 1 schéma**.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n°119</a:t>
            </a:r>
          </a:p>
          <a:p>
            <a:r>
              <a:t>Source : MEMOIRE_SOUTENANCE_INGENIEUR_COMPLET.md</a:t>
            </a:r>
          </a:p>
          <a:p/>
          <a:p>
            <a:r>
              <a:t>## 34. Checklist finale avant / pendant / après</a:t>
            </a:r>
          </a:p>
          <a:p/>
          <a:p>
            <a:r>
              <a:t>(Section sans paragraphe sous-jacent dans le fichier Markdown — voir structure source.)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n°120</a:t>
            </a:r>
          </a:p>
          <a:p>
            <a:r>
              <a:t>Source : MEMOIRE_SOUTENANCE_INGENIEUR_COMPLET.md</a:t>
            </a:r>
          </a:p>
          <a:p/>
          <a:p>
            <a:r>
              <a:t>## Avant</a:t>
            </a:r>
          </a:p>
          <a:p/>
          <a:p>
            <a:r>
              <a:t>- [ ] Démo scénario répété 2× en conditions réelles réseau  </a:t>
            </a:r>
          </a:p>
          <a:p>
            <a:r>
              <a:t>- [ ] Variables sensibles jamais affichées écran partagé  </a:t>
            </a:r>
          </a:p>
          <a:p>
            <a:r>
              <a:t>- [ ] Slides export PDF secours  </a:t>
            </a:r>
          </a:p>
          <a:p>
            <a:r>
              <a:t>- [ ] Relecture **§7 IA stub** &amp; **proxy SSRF** si annoncés  </a:t>
            </a:r>
          </a:p>
          <a:p>
            <a:r>
              <a:t>- [ ] Git clean / branche tag release démo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n°121</a:t>
            </a:r>
          </a:p>
          <a:p>
            <a:r>
              <a:t>Source : MEMOIRE_SOUTENANCE_INGENIEUR_COMPLET.md</a:t>
            </a:r>
          </a:p>
          <a:p/>
          <a:p>
            <a:r>
              <a:t>## Pendant</a:t>
            </a:r>
          </a:p>
          <a:p/>
          <a:p>
            <a:r>
              <a:t>- [ ] Regard alterné jury (pas écran seul)  </a:t>
            </a:r>
          </a:p>
          <a:p>
            <a:r>
              <a:t>- [ ] Temps alloué questions &gt; démo si jury chaud technique  </a:t>
            </a:r>
          </a:p>
          <a:p>
            <a:r>
              <a:t>- [ ] Si défaillance live : annoncer plan B calmement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n°122</a:t>
            </a:r>
          </a:p>
          <a:p>
            <a:r>
              <a:t>Source : MEMOIRE_SOUTENANCE_INGENIEUR_COMPLET.md</a:t>
            </a:r>
          </a:p>
          <a:p/>
          <a:p>
            <a:r>
              <a:t>## Après</a:t>
            </a:r>
          </a:p>
          <a:p/>
          <a:p>
            <a:r>
              <a:t>- [ ] Noter questions restées ouvertes pour mémoire technique post-soutenance</a:t>
            </a:r>
          </a:p>
          <a:p/>
          <a:p>
            <a:r>
              <a:t>---</a:t>
            </a:r>
          </a:p>
          <a:p/>
          <a:p>
            <a:r>
              <a:t>**Fin du mémoire principal — document vivant : mettre à jour si hash git / versions packages changent.**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 document : Annexe questions jury (techniques)</a:t>
            </a:r>
          </a:p>
          <a:p>
            <a:r>
              <a:t>Fichier : C:\Users\Hp\Downloads\AfriWonder\docs\soutenance\ANNEXE_QUESTIONS_JURY_TECHNIQUES.md</a:t>
            </a:r>
          </a:p>
          <a:p/>
          <a:p>
            <a:r>
              <a:t>(Ouvre les diapos suivantes avec le panneau Notes.)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n°124</a:t>
            </a:r>
          </a:p>
          <a:p>
            <a:r>
              <a:t>Source : ANNEXE_QUESTIONS_JURY_TECHNIQUES.md</a:t>
            </a:r>
          </a:p>
          <a:p/>
          <a:p>
            <a:r>
              <a:t>## Annexe — Questions jury techniques AfriWonder (dense)</a:t>
            </a:r>
          </a:p>
          <a:p/>
          <a:p>
            <a:r>
              <a:t>**À utiliser comme fiches révision ; ne pas tout projeter.**</a:t>
            </a:r>
          </a:p>
          <a:p/>
          <a:p>
            <a:r>
              <a:t>Chaque bloc : **Q** • **Réponse courte (mémo)** • **Fichiers / idées**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n°125</a:t>
            </a:r>
          </a:p>
          <a:p>
            <a:r>
              <a:t>Source : ANNEXE_QUESTIONS_JURY_TECHNIQUES.md</a:t>
            </a:r>
          </a:p>
          <a:p/>
          <a:p>
            <a:r>
              <a:t>## Architecture &amp; conception (1–20)</a:t>
            </a:r>
          </a:p>
          <a:p/>
          <a:p>
            <a:r>
              <a:t>1. **Pourquoi un monolithe Express ?** — **Une API unique** pour mobile + web, transactions inter-domaines simples au début. — `backend/src/app.ts`</a:t>
            </a:r>
          </a:p>
          <a:p>
            <a:r>
              <a:t>2. **Microservices alors ?** — **Pas indispensable** tant scaling mesuré inconnu ; coût ops élevé. — docker-compose replicas</a:t>
            </a:r>
          </a:p>
          <a:p>
            <a:r>
              <a:t>3. **Où est la « couche métier » ?** — **Souvent dans `backend/src/services/**`** puis Prisma dans routes légères — à vérifier module par module.</a:t>
            </a:r>
          </a:p>
          <a:p>
            <a:r>
              <a:t>4. **Comment évitez-vous god routes ?** — **Zod + services** séparent validation / règles — pattern récurrent `validateBody`.</a:t>
            </a:r>
          </a:p>
          <a:p>
            <a:r>
              <a:t>5. **Diagramme de déploiement réel ?** — **Infra type Nginx + replicas** (`docker-compose.prod.yml`) — adapter à ce que vous avez réellement déployé.</a:t>
            </a:r>
          </a:p>
          <a:p>
            <a:r>
              <a:t>6. **Pattern MVC ?** — **Router ≈ controller**, service ≈ logique, Prisma ≈ persistance — hybride pragmatique.</a:t>
            </a:r>
          </a:p>
          <a:p>
            <a:r>
              <a:t>7. **Versionnement API ?** — **Vérifier** si routes mixtes `/api/...` sans `/v1` partout → dire honnêtement état migration.</a:t>
            </a:r>
          </a:p>
          <a:p>
            <a:r>
              <a:t>8. **GraphQL futur ?** — **Possibilité gateway** mais REST + mobiles déjà équipées.</a:t>
            </a:r>
          </a:p>
          <a:p>
            <a:r>
              <a:t>9. **Event-driven ?** — **Socket.IO événements** + jobs (`jobs/*.job.*`) mais pas Kafka déclaré.</a:t>
            </a:r>
          </a:p>
          <a:p>
            <a:r>
              <a:t>10. **CQRS présent ?** — **Pas comme pattern systématique** sauf lectures optimisées isolées à montrer.</a:t>
            </a:r>
          </a:p>
          <a:p>
            <a:r>
              <a:t>11. **Séparation PWA/mobile logique métier ?** — **Non : métier au backend** ; clients consommateurs.</a:t>
            </a:r>
          </a:p>
          <a:p>
            <a:r>
              <a:t>12. **Réutilisation SDK ?** — **Mini SDK** dossier `sdk/afriwonder-miniapp-sdk` — lien extension écosystème.</a:t>
            </a:r>
          </a:p>
          <a:p>
            <a:r>
              <a:t>13. **Public API ?** — **Route `publicApi.routes`** — préciser périmètre démo.</a:t>
            </a:r>
          </a:p>
          <a:p>
            <a:r>
              <a:t>14. **Reverse proxy avant Express ?** — **Nginx** schémas compose prod — TLS termination.</a:t>
            </a:r>
          </a:p>
          <a:p>
            <a:r>
              <a:t>15. **Health checks ?** — **`sendExtendedApiHealth`** import `app.ts` — expliquer champs observés réellement.</a:t>
            </a:r>
          </a:p>
          <a:p>
            <a:r>
              <a:t>16. **Trust proxy pourquoi ?** — **`app.set('trust proxy',1)`** lecture IP client derrière LB.</a:t>
            </a:r>
          </a:p>
          <a:p>
            <a:r>
              <a:t>17. **ETag forte impact ?** — **Revalidation cache conditionnelles** compatibles proxys.</a:t>
            </a:r>
          </a:p>
          <a:p>
            <a:r>
              <a:t>18. **Idempotence globale ?** — **Webhooks** tests existants — ne pas généraliser à toutes routes sans preuve.</a:t>
            </a:r>
          </a:p>
          <a:p>
            <a:r>
              <a:t>19. **File upload pipeline ?** — **Multer + Sharp** deps — risque DoS upload → limites taille à citer si connues.</a:t>
            </a:r>
          </a:p>
          <a:p>
            <a:r>
              <a:t>20. **Observabilité beyond Sentry ?** — **Prometheus exposition service** import `app.ts` — dire ce que vous exposez réellement.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n°126</a:t>
            </a:r>
          </a:p>
          <a:p>
            <a:r>
              <a:t>Source : ANNEXE_QUESTIONS_JURY_TECHNIQUES.md</a:t>
            </a:r>
          </a:p>
          <a:p/>
          <a:p>
            <a:r>
              <a:t>## Sécurité (21–35)</a:t>
            </a:r>
          </a:p>
          <a:p/>
          <a:p>
            <a:r>
              <a:t>21. **JWT secret rotation ?** — **Process manuel** sauf preuve script — honnêteté.</a:t>
            </a:r>
          </a:p>
          <a:p>
            <a:r>
              <a:t>22. **Refresh token stockage ?** — **Relire `auth.routes` / cookies** pour exactitude (ne pas improviser).</a:t>
            </a:r>
          </a:p>
          <a:p>
            <a:r>
              <a:t>23. **Black list jti stockée où ?** — **Service dédié** (`accessTokenBlacklist.service.ts`) mentionné depuis auth middleware.</a:t>
            </a:r>
          </a:p>
          <a:p>
            <a:r>
              <a:t>24. **CSRF sur mobile ?** — **Principalement surface cookie navigateur**.</a:t>
            </a:r>
          </a:p>
          <a:p>
            <a:r>
              <a:t>25. **Helmet défaut suffisants ?** — **Baseline CSP à valider selon CDN asset** réel déployé.</a:t>
            </a:r>
          </a:p>
          <a:p>
            <a:r>
              <a:t>26. **XSS réfléchi stocké ?** — **Sanitize back + vigilance rendu Markdown / rich text**.</a:t>
            </a:r>
          </a:p>
          <a:p>
            <a:r>
              <a:t>27. **SSRF médias comment ?** — **Lire entièrement `proxy.routes.ts` avant oral** (question fréquente).</a:t>
            </a:r>
          </a:p>
          <a:p>
            <a:r>
              <a:t>28. **Rate-limit auth brute force ?** — **`authLimiter`** import middleware.</a:t>
            </a:r>
          </a:p>
          <a:p>
            <a:r>
              <a:t>29. **Payment abuse ?** — **`paymentLimiter`**, logique Stripe/OM webhook tests.</a:t>
            </a:r>
          </a:p>
          <a:p>
            <a:r>
              <a:t>30. **Secrets git leak ?** — **Workflow `detect-secrets.yml`** existe — citez prévention CI.</a:t>
            </a:r>
          </a:p>
          <a:p>
            <a:r>
              <a:t>31. **E2EE messaging readiness ?** — **Flags user `messaging_e2e_enabled`** schéma + routes `e2ee` — préciser niveau implémentation (commentaire schema « préférence »).</a:t>
            </a:r>
          </a:p>
          <a:p>
            <a:r>
              <a:t>32. **CORS erreur classique ?** — **`CORS_ORIGIN` liste** commentaire `app.ts` — expliquer credentials.</a:t>
            </a:r>
          </a:p>
          <a:p>
            <a:r>
              <a:t>33. **Cookie flags prod ?** — **secure / sameSite** — vérifier code set-cookie réel.</a:t>
            </a:r>
          </a:p>
          <a:p>
            <a:r>
              <a:t>34. **Admin surface attack ?** — **Routes admin séparées** (`requireAdmin`) — principe least privilege.</a:t>
            </a:r>
          </a:p>
          <a:p>
            <a:r>
              <a:t>35. **Dependency supply chain ?** — **`npm audit` CI mobile** + backend à confirmer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n°127</a:t>
            </a:r>
          </a:p>
          <a:p>
            <a:r>
              <a:t>Source : ANNEXE_QUESTIONS_JURY_TECHNIQUES.md</a:t>
            </a:r>
          </a:p>
          <a:p/>
          <a:p>
            <a:r>
              <a:t>## Données &amp; Prisma (36–45)</a:t>
            </a:r>
          </a:p>
          <a:p/>
          <a:p>
            <a:r>
              <a:t>36. **Nombre modèles ?** — **~100 `model`** — ordre grandeur exact du schema versionnée.</a:t>
            </a:r>
          </a:p>
          <a:p>
            <a:r>
              <a:t>37. **Migration downtime ?** — **Stratégie blue/green non prouvée** → expansion / backfill scripts existent → honnête.</a:t>
            </a:r>
          </a:p>
          <a:p>
            <a:r>
              <a:t>38. **N+1 exemple ?** — **Préparer 1 flux feed ou commande avec `select`/`include`** ou dire « instrumentation future ».</a:t>
            </a:r>
          </a:p>
          <a:p>
            <a:r>
              <a:t>39. **Index critiques ?** — **Pointer `@@index` dans schema vidéos/orders si expliqués** — lecture ciblée requise.</a:t>
            </a:r>
          </a:p>
          <a:p>
            <a:r>
              <a:t>40. **Transactions wallet ?** — **Prisma `$transaction` dans services paiement** à localiser exemple réel avant jury.</a:t>
            </a:r>
          </a:p>
          <a:p>
            <a:r>
              <a:t>41. **Soft delete présent ?** — **Chercher colonnes archived / timestamps** avant affirmation.</a:t>
            </a:r>
          </a:p>
          <a:p>
            <a:r>
              <a:t>42. **JSON polymorphique dangers ?** — **Champs `Json?` user** gestion versioning schéma client.</a:t>
            </a:r>
          </a:p>
          <a:p>
            <a:r>
              <a:t>43. **PG extensions ?** — **Indiquer si uuid / postgis** — non confirmé sans search.</a:t>
            </a:r>
          </a:p>
          <a:p>
            <a:r>
              <a:t>44. **Backup stratégie ?** — **Hors code** — dire « politique infra à documenter » si non fourni.</a:t>
            </a:r>
          </a:p>
          <a:p>
            <a:r>
              <a:t>45. **GDPR delete job ?** — **`startAccountDeletionJobs`** `index.ts` — expliquer principe différé.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n°128</a:t>
            </a:r>
          </a:p>
          <a:p>
            <a:r>
              <a:t>Source : ANNEXE_QUESTIONS_JURY_TECHNIQUES.md</a:t>
            </a:r>
          </a:p>
          <a:p/>
          <a:p>
            <a:r>
              <a:t>## Temps réel &amp; médias (46–55)</a:t>
            </a:r>
          </a:p>
          <a:p/>
          <a:p>
            <a:r>
              <a:t>46. **Socket.IO auth ?** — **Relire handshake portion `index.ts`** (token query/cookie) sans inventer.</a:t>
            </a:r>
          </a:p>
          <a:p>
            <a:r>
              <a:t>47. **Rooms identifiants ?** — **Clé conversation / user** — citer ce que code fait réellement.</a:t>
            </a:r>
          </a:p>
          <a:p>
            <a:r>
              <a:t>48. **Reconnexion client ?** — **Backoff côté `socket.io-client`** config front — à vérifier.</a:t>
            </a:r>
          </a:p>
          <a:p>
            <a:r>
              <a:t>49. **Redis adapter condition ?** — **Variable env** — si absent single instance seulement.</a:t>
            </a:r>
          </a:p>
          <a:p>
            <a:r>
              <a:t>50. **Agora token server ?** — **`agora-token` dep backend** — expliquer que token généré serveur, média hors bande.</a:t>
            </a:r>
          </a:p>
          <a:p>
            <a:r>
              <a:t>51. **WebRTC fallback ?** — **Dire limites réseaux symétriques NAT** à haut niveau.</a:t>
            </a:r>
          </a:p>
          <a:p>
            <a:r>
              <a:t>52. **Live recording ?** — **À vérifier routes `live`** avant promesse.</a:t>
            </a:r>
          </a:p>
          <a:p>
            <a:r>
              <a:t>53. **HLS vs MP4 ?** — **Ne pas bluffer** : montrer ce que `VideoCard`/upload pipeline fait réellement (PWA rules lock player).</a:t>
            </a:r>
          </a:p>
          <a:p>
            <a:r>
              <a:t>54. **CDN usage ?** — **S3 presign** possible — décrire chemin upload download.</a:t>
            </a:r>
          </a:p>
          <a:p>
            <a:r>
              <a:t>55. **Modération live auto ?** — **Ne pas confondre avec IA engine stub** — dire règles / humain / futur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n°129</a:t>
            </a:r>
          </a:p>
          <a:p>
            <a:r>
              <a:t>Source : ANNEXE_QUESTIONS_JURY_TECHNIQUES.md</a:t>
            </a:r>
          </a:p>
          <a:p/>
          <a:p>
            <a:r>
              <a:t>## Frontend PWA (56–62)</a:t>
            </a:r>
          </a:p>
          <a:p/>
          <a:p>
            <a:r>
              <a:t>56. **Pourquoi pas Next ?** — **Stack Vite + react-router SPA** racine (`src/App.jsx`).</a:t>
            </a:r>
          </a:p>
          <a:p>
            <a:r>
              <a:t>57. **State global auth ?** — **`AuthProvider`** fichier `AuthContext`.</a:t>
            </a:r>
          </a:p>
          <a:p>
            <a:r>
              <a:t>58. **Offline queries ?** — **Persist TanStack Query** visible imports `App.jsx`.</a:t>
            </a:r>
          </a:p>
          <a:p>
            <a:r>
              <a:t>59. **Feature flags ?** — **`FeatureFlagsProvider`**.</a:t>
            </a:r>
          </a:p>
          <a:p>
            <a:r>
              <a:t>60. **Accessibilité ?** — **Radix primitives** baseline — audit Lighthouse manuel.</a:t>
            </a:r>
          </a:p>
          <a:p>
            <a:r>
              <a:t>61. **i18n ?** — **TranslationProvider composant**.</a:t>
            </a:r>
          </a:p>
          <a:p>
            <a:r>
              <a:t>62. **Performance scroll feed ?** — **Règles projet TikTok-like** sans modifier player — verbaliser buffering mobile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n°130</a:t>
            </a:r>
          </a:p>
          <a:p>
            <a:r>
              <a:t>Source : ANNEXE_QUESTIONS_JURY_TECHNIQUES.md</a:t>
            </a:r>
          </a:p>
          <a:p/>
          <a:p>
            <a:r>
              <a:t>## Mobile Expo (63–68)</a:t>
            </a:r>
          </a:p>
          <a:p/>
          <a:p>
            <a:r>
              <a:t>63. **Router file-based ?** — **`expo-router`** deps.</a:t>
            </a:r>
          </a:p>
          <a:p>
            <a:r>
              <a:t>64. **Socket client scope ?** — **Présence dep** → usage messagerie.</a:t>
            </a:r>
          </a:p>
          <a:p>
            <a:r>
              <a:t>65. **IAP sandbox ?** — **`react-native-iap`** configuration stores hors scope résumé vague OK.</a:t>
            </a:r>
          </a:p>
          <a:p>
            <a:r>
              <a:t>66. **Probes backend Android ?** — **`getBackendOrigin` / rules workspace** très bonne question Mali LAN.</a:t>
            </a:r>
          </a:p>
          <a:p>
            <a:r>
              <a:t>67. **Secure storage sensitive ?** — **`expo-secure-store`** présent deps.</a:t>
            </a:r>
          </a:p>
          <a:p>
            <a:r>
              <a:t>68. **Maestro valeur ?** — **Smoke YAML** automatisation tactile.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n°131</a:t>
            </a:r>
          </a:p>
          <a:p>
            <a:r>
              <a:t>Source : ANNEXE_QUESTIONS_JURY_TECHNIQUES.md</a:t>
            </a:r>
          </a:p>
          <a:p/>
          <a:p>
            <a:r>
              <a:t>## DevOps &amp; CI (69–74)</a:t>
            </a:r>
          </a:p>
          <a:p/>
          <a:p>
            <a:r>
              <a:t>69. **PR 400 lignes pourquoi ?** — **`pr-line-budget` job CI** ligne commentaire durability — discipline review.</a:t>
            </a:r>
          </a:p>
          <a:p>
            <a:r>
              <a:t>70. **quality-gates scripts ?** — **`npm run verify:quality-gates`** racine.</a:t>
            </a:r>
          </a:p>
          <a:p>
            <a:r>
              <a:t>71. **Playwright périmètre ?** — **Tests e2e subset ci.yml** réel fichier complet à parcourir.</a:t>
            </a:r>
          </a:p>
          <a:p>
            <a:r>
              <a:t>72. **Render / Vercel deploy yml ?** — **Présents** — expliquer ce que VOUS utilisez.</a:t>
            </a:r>
          </a:p>
          <a:p>
            <a:r>
              <a:t>73. **Docker prod compose services ?** — **Lister services réels** après ouverture fichier.</a:t>
            </a:r>
          </a:p>
          <a:p>
            <a:r>
              <a:t>74. **Secrets runtime ?** — **`.env` backend** non commit — rappel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écran n°132</a:t>
            </a:r>
          </a:p>
          <a:p>
            <a:r>
              <a:t>Source : ANNEXE_QUESTIONS_JURY_TECHNIQUES.md</a:t>
            </a:r>
          </a:p>
          <a:p/>
          <a:p>
            <a:r>
              <a:t>## IA &amp; traduction (75–80)</a:t>
            </a:r>
          </a:p>
          <a:p/>
          <a:p>
            <a:r>
              <a:t>75. **LibreTranslate fail ?** — **Fallback MyMemory** logique `translate.routes.ts`.</a:t>
            </a:r>
          </a:p>
          <a:p>
            <a:r>
              <a:t>76. **Données externes traduction ?** — **Texte utilisateur part temporairement tiers** — mention conformité usage.</a:t>
            </a:r>
          </a:p>
          <a:p>
            <a:r>
              <a:t>77. **AI models Prisma ?** — **Commentaire service : désactivé** — cohérent réponse honnête.</a:t>
            </a:r>
          </a:p>
          <a:p>
            <a:r>
              <a:t>78. **Future RAG ?** — **Vision** si pas code — marquer prospective.</a:t>
            </a:r>
          </a:p>
          <a:p>
            <a:r>
              <a:t>79. **BI routes ?** — **`businessIntelligence.routes`** — à ouvrir avant promesse dashboard.</a:t>
            </a:r>
          </a:p>
          <a:p>
            <a:r>
              <a:t>80. **Search full-text ?** — **`search.routes`** — préciser moteur (SQL vs external).</a:t>
            </a:r>
          </a:p>
          <a:p/>
          <a:p>
            <a:r>
              <a:t>---</a:t>
            </a:r>
          </a:p>
          <a:p/>
          <a:p>
            <a:r>
              <a:t>**Fin annexe — compléter au fil des modules réellement montrés en démo.**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Clôturer calmement. Si autorisé : remplacer le cadre par un vrai QR (Insertion &gt; Image ou complément).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502920"/>
            <a:ext cx="1325880" cy="1051560"/>
          </a:xfrm>
          <a:prstGeom prst="roundRect">
            <a:avLst/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9728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AfriWonder</a:t>
            </a:r>
          </a:p>
          <a:p>
            <a:pPr algn="ctr">
              <a:spcBef>
                <a:spcPts val="800"/>
              </a:spcBef>
              <a:defRPr sz="2000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Super-app pour l’Afrique</a:t>
            </a:r>
          </a:p>
          <a:p>
            <a:pPr algn="ctr">
              <a:spcBef>
                <a:spcPts val="1000"/>
              </a:spcBef>
              <a:defRPr sz="170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PWA · Mobile · API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0" y="4645152"/>
            <a:ext cx="4498847" cy="0"/>
          </a:xfrm>
          <a:prstGeom prst="line">
            <a:avLst/>
          </a:prstGeom>
          <a:ln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800600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ABDOULAYE FANEL</a:t>
            </a:r>
          </a:p>
          <a:p>
            <a:pPr algn="ctr">
              <a:spcBef>
                <a:spcPts val="600"/>
              </a:spcBef>
              <a:defRPr sz="16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Encadré par Pr. HAMZA KALFI</a:t>
            </a:r>
          </a:p>
          <a:p>
            <a:pPr algn="ctr">
              <a:defRPr sz="15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ENSA Khouribga – MGSI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Problème et opportunité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74519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🔗 Connectivité instable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3291839"/>
            <a:ext cx="3127248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Signal faible, latences, coûts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18304" y="1874519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📱 Services éparpillés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5464" y="3291839"/>
            <a:ext cx="3127248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Expériences fragmentées sans fil conducteur.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874519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💰 Monétisation difficile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3291839"/>
            <a:ext cx="3127248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Peu de passerelles locales unifiées pour créateurs.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La réponse AfriWonder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17320"/>
            <a:ext cx="2880360" cy="20574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🌐 PWA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Vite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React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11879" y="2441448"/>
            <a:ext cx="466345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96512" y="1417320"/>
            <a:ext cx="2880360" cy="20574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📱 Mobile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Expo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React Native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95160" y="2441448"/>
            <a:ext cx="466344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479792" y="1417320"/>
            <a:ext cx="2880360" cy="20574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🖥 Backend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Node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Express</a:t>
            </a:r>
          </a:p>
        </p:txBody>
      </p:sp>
      <p:sp>
        <p:nvSpPr>
          <p:cNvPr id="9" name="Oval 8"/>
          <p:cNvSpPr/>
          <p:nvPr/>
        </p:nvSpPr>
        <p:spPr>
          <a:xfrm>
            <a:off x="5440680" y="4251960"/>
            <a:ext cx="2157984" cy="2157984"/>
          </a:xfrm>
          <a:prstGeom prst="ellipse">
            <a:avLst/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API unifiée</a:t>
            </a:r>
            <a:br/>
            <a:r>
              <a:t>Express + Prisma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53412" y="3474720"/>
            <a:ext cx="3863340" cy="1856232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36692" y="3474720"/>
            <a:ext cx="480060" cy="1856232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16752" y="3474720"/>
            <a:ext cx="2903220" cy="1856232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Parcours utilisateur unifié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3624" y="1874519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77439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Inscription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(JWT)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91256" y="2926079"/>
            <a:ext cx="310895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489704" y="1874519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377439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Publier une vidéo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17336" y="2926079"/>
            <a:ext cx="310896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15783" y="1874519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377439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Vendre sur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Marketplace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43415" y="2926079"/>
            <a:ext cx="310896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341864" y="1874519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377439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Retirer gains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(Wallet)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Architecture technique globale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34440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Clients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PWA / Mobile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1563624"/>
            <a:ext cx="749808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02736" y="1234440"/>
            <a:ext cx="2395728" cy="65836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Nginx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reverse proxy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148840"/>
            <a:ext cx="2670048" cy="84124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Express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backend ×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5344" y="2148840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Socket.IO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(temps réel)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148840"/>
            <a:ext cx="2029968" cy="84124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Redis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cache + rate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00600" y="1883664"/>
            <a:ext cx="0" cy="265176"/>
          </a:xfrm>
          <a:prstGeom prst="line">
            <a:avLst/>
          </a:prstGeom>
          <a:ln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70048" y="3154680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Prisma ORM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9160" y="2990088"/>
            <a:ext cx="0" cy="164592"/>
          </a:xfrm>
          <a:prstGeom prst="line">
            <a:avLst/>
          </a:prstGeom>
          <a:ln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70048" y="3913632"/>
            <a:ext cx="4160520" cy="71323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PostgreSQL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3685032"/>
            <a:ext cx="0" cy="228600"/>
          </a:xfrm>
          <a:prstGeom prst="line">
            <a:avLst/>
          </a:prstGeom>
          <a:ln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Stack technique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3730752" cy="47548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Web (PWA)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730752" cy="47548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Mobile (Expo)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17320"/>
            <a:ext cx="3730752" cy="47548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11095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Vite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11095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Expo 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911095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23160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React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23160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RN 0.81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423160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Prisma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35224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Tailwind 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935224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Zustand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935224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Zod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47288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TanStack 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47288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Agora (lives)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3447288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Socket.IO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59352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PWA (Workbox)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59352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Expo Router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3959352"/>
            <a:ext cx="3730752" cy="4572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JWT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Modèle de données (aperçu)</a:t>
            </a:r>
          </a:p>
        </p:txBody>
      </p:sp>
      <p:sp>
        <p:nvSpPr>
          <p:cNvPr id="4" name="Oval 3"/>
          <p:cNvSpPr/>
          <p:nvPr/>
        </p:nvSpPr>
        <p:spPr>
          <a:xfrm>
            <a:off x="5074920" y="2606040"/>
            <a:ext cx="2011680" cy="932688"/>
          </a:xfrm>
          <a:prstGeom prst="ellipse">
            <a:avLst/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121408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Video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37943" y="1591056"/>
            <a:ext cx="4242817" cy="1481328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823960" y="1325880"/>
            <a:ext cx="2121408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Order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6080760" y="1591056"/>
            <a:ext cx="3803904" cy="1481328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3520440"/>
            <a:ext cx="2121408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Wallet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773936" y="3072384"/>
            <a:ext cx="4306824" cy="713231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34272" y="3520440"/>
            <a:ext cx="2121408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Live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6080760" y="3072384"/>
            <a:ext cx="4014216" cy="713231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4983480"/>
            <a:ext cx="2121408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Message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10512" y="3072384"/>
            <a:ext cx="4270248" cy="2176272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98280" y="4983480"/>
            <a:ext cx="2121408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Story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6080760" y="3072384"/>
            <a:ext cx="4078224" cy="2176272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5989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+ de 100 modèles (ordre grandeur) · Prisma 7.8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Sécurité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84448" y="1389888"/>
            <a:ext cx="5047488" cy="47548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SÉCURITÉ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9888" y="1993392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JWT+jti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93392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Helmet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89888" y="2560320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Rate-limit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560320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CORS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9888" y="3127248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CSRF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127248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Proxy · liste blanche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(anti-SSRF)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89888" y="3694176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Sanitization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94176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Sharp · uploads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Temps réel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" y="1627632"/>
            <a:ext cx="1755648" cy="14173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39327" y="1627632"/>
            <a:ext cx="1755648" cy="14173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📱</a:t>
            </a:r>
          </a:p>
        </p:txBody>
      </p:sp>
      <p:sp>
        <p:nvSpPr>
          <p:cNvPr id="6" name="Oval 5"/>
          <p:cNvSpPr/>
          <p:nvPr/>
        </p:nvSpPr>
        <p:spPr>
          <a:xfrm>
            <a:off x="3218688" y="2212848"/>
            <a:ext cx="50292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98848" y="2212848"/>
            <a:ext cx="50292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70448" y="2212848"/>
            <a:ext cx="50292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993392"/>
            <a:ext cx="3913632" cy="84124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Socket.IO + Redis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(rooms / adapter)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520440"/>
            <a:ext cx="6080760" cy="86868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Lives : Agora (flux vidéo)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Messagerie (Socket.IO) · Lives (Agora)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DevOps &amp;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Git push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386584"/>
            <a:ext cx="64008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97480" y="1874519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GitHub Actions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lint · test · build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99432" y="2386584"/>
            <a:ext cx="649224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321808" y="1874519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Docker Compose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prod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23760" y="2386584"/>
            <a:ext cx="612648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09560" y="1874519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Déploiement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" y="3246120"/>
            <a:ext cx="2331720" cy="62179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Nginx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3246120"/>
            <a:ext cx="2148840" cy="62179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3×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246120"/>
            <a:ext cx="2057400" cy="62179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Postgres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246120"/>
            <a:ext cx="1965960" cy="62179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1605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CI : PR ≤ 400 lignes · quality gates (cf. ci.yml)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IA &amp; perspectives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08760"/>
            <a:ext cx="5285232" cy="32461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>
              <a:defRPr sz="14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Aujourd’hui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• Traduction (LibreTranslate)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• Chatbot (données)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• STT / voix — placeholder selon périmètre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508760"/>
            <a:ext cx="5193792" cy="324612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>
              <a:defRPr sz="14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Demain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• Modularisation (bounded contexts)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• STT finalisé · files médias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• Feature flags / rollout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Difficultés &amp; compétences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55648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Buffering vidéo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&amp; réseau instable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62856" y="1755648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Schéma Prisma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à grande échelle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48472" y="1755648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Cohérence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PWA / Mobile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30752"/>
            <a:ext cx="3520440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Architecture full-stack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730752"/>
            <a:ext cx="3520440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Paiements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3730752"/>
            <a:ext cx="3520440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89120"/>
            <a:ext cx="3520440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CI/CD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389120"/>
            <a:ext cx="3520440" cy="53035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0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Temps réel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74519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Entraînement &amp; mémoires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4698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À partir d’ici, le contenu détaillé des fichiers Markdown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n’apparaît pas sur cette diapo — uniquement sous NOTES.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</a:p>
          <a:p>
            <a:pPr algn="ctr">
              <a:defRPr sz="1400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Balise personnelle · fiche 1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(ne pas diffuser en cours / promo)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29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39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49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59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69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79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89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99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109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119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123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124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125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126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127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128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129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130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131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Préparation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Fiche 132</a:t>
            </a:r>
            <a:br/>
            <a:br/>
            <a:r>
              <a:t>Contenu réservé aux NOTES présentateur.</a:t>
            </a:r>
            <a:br/>
            <a:r>
              <a:t>Ne pas projeter en groupe.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1005840"/>
            <a:ext cx="5029200" cy="475488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rPr>
                <a:latin typeface="Inter"/>
              </a:rPr>
              <a:t>Merci de votre attention</a:t>
            </a:r>
          </a:p>
          <a:p>
            <a:pPr algn="ctr">
              <a:spcBef>
                <a:spcPts val="1600"/>
              </a:spcBef>
              <a:defRPr sz="2600">
                <a:solidFill>
                  <a:srgbClr val="38BDF8"/>
                </a:solidFill>
              </a:defRPr>
            </a:pPr>
            <a:r>
              <a:rPr>
                <a:latin typeface="Inter"/>
              </a:rPr>
              <a:t>Des questions ?</a:t>
            </a:r>
          </a:p>
          <a:p>
            <a:pPr algn="ctr">
              <a:spcBef>
                <a:spcPts val="2200"/>
              </a:spcBef>
              <a:defRPr sz="16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AfriWonder — Une plateforme, toutes les opportunités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4709160"/>
            <a:ext cx="2423160" cy="123444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>
                <a:latin typeface="Inter"/>
              </a:rPr>
              <a:t>QR code</a:t>
            </a:r>
            <a:br/>
            <a:r>
              <a:t>(à insérer)</a:t>
            </a:r>
            <a:br/>
            <a:r>
              <a:t>→ dépôt / doc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