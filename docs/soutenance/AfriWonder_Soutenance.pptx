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Accueillez le jury avec le titre exact du projet, votre identité ENSAK/MGSI, et l’encadrant.</a:t>
            </a:r>
          </a:p>
          <a:p>
            <a:r>
              <a:t>Annoncez la durée (ex. 12–15 minutes) puis le déroulé.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Structurez votre oral : du contexte aux objectifs et à la méthode, puis fonctionnel, technique, preuves (captures / CI) et conclusion.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Donnez le « pourquoi » avant le « comment » : un seul compte, des parcours bout-en-bout, une vision produit alignée sur les usages mobile money et la faible bande passante.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Insistez : objectifs généraux = valeur utilisateur et territoire ; objectifs techniques = qualités non fonctionnelles (scalabilité, sécurité, disponibilité, temps réel).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À l’ENSAK MGSI : montrer le chaînon Organisation → Outils → Qualité logicielle.</a:t>
            </a:r>
          </a:p>
          <a:p>
            <a:r>
              <a:t>Évoquez en une phrase vos rituels Scrum (daily courte, sprint review, rétrospective si applicable).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Reliez chaque enjeu à un choix d’architecture : API unifiée, cache, compression, passerelles de paiement locales, traçabilité et contrôle des accès.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Présentez un découpage par domaines : social, commerce, finance, services locaux, puis les briques transverses (i18n, assistance, alertes).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Insistez sur la complétude du parcours : ce n’est pas une vitrine, c’est un système transactionnel.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Modèle client-serveur distribué, API REST sécurisée, WebSockets ; découpage modulaire par domaine ; couches routes / services / données.</a:t>
            </a:r>
          </a:p>
          <a:p/>
          <a:p>
            <a:r>
              <a:t>Lecture : flux descendant (clients → API → données). Socket.IO permet le temps réel ; Redis aide à scaler horizontalement quand plusieurs instances backend tournent.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Nuance orale : le dépôt peut contenir aussi du JS historique ; l’objectif est la cohérence TypeScript sur le code critique.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Expliquez la séparation des responsabilités : route fine, service métier, accès Prisma, journalisation et gestion d’erreurs centralisée.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schéma massif est un atout (richesse fonctionnelle) et un risque (onboarding) : dites comment vous le documentez (Swagger, conventions de nommage).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Expliquez au jury que PostgreSQL impose l’intégrité référentielle : tout module sensible (paiement, livraison) reste relié à une identité stable (User).</a:t>
            </a:r>
          </a:p>
          <a:p>
            <a:r>
              <a:t>Les traits sont une simplification du schéma Prisma réel (~100 modèles).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Reprenez le schéma illustré : cohérence transactionnelle et contraintes d’intégrité.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 promettez pas « un seul design system pixel-perfect » : dites « cohérence UX et patterns partagés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Soulignez le bénéfice en Afrique : moins de requêtes inutiles, meilleure UX sur connexion instable.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Précisez : la messagerie et les salons utilisent Socket.IO.</a:t>
            </a:r>
          </a:p>
          <a:p>
            <a:r>
              <a:t>En production avec plusieurs backends, REDIS_URL active l’adaptateur Redis pour diffuser les événements entre instances.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Référez-vous au schéma : authent JWT sur handshake, rooms par utilisateur/conversation.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Insistez sur la conformité sécuritaire : webhook en body brut, vérifications, et désactivation du « trust webhook » en production.</a:t>
            </a:r>
          </a:p>
          <a:p>
            <a:r>
              <a:t> Mentionnez brièvement Stripe + paiements mobiles locaux disponibles dans l’implémentation.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Soyez factuel sur ce qui est activé sur votre environnement de démo (clés prod vs sandbox).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Dites explicitement où c’est encore partiel pour éviter les questions surprises du jury.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Ajoutez un exemple oral : tentative d’abus webhook rejetée faute de signature valide.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Connectez perf et contexte Mali/Afrique : latence, coût data, cold start.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À l’oral : la réplication compose est un objectif documenté dans le repo ; précisez la plateforme de déploiement réelle (serveur VPS, Render, etc.) pour rester vérifiable.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Précisez si votre démo est locale, staging cloud, ou production — même architecture, paramètres différents.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jury MGSI adore la boucle Qualité→Livraison : montrez où ça se voit dans le dépôt GitHub.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Cette slide « protège » votre crédibilité : vous projetez mais vous ne cachez pas l’état réel.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Utilisez « vérifiable » : le jury peut demander où — vous pointez dossiers/backend/CI.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Dites au jury ce qui est une maquette/marketing PNG du repo vs une capture fonctionnelle live.</a:t>
            </a:r>
          </a:p>
          <a:p>
            <a:r>
              <a:t>Complétez les cases en pointillés avant la défense.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 vous projetez depuis un téléphone, cette slide peut être remplacée par une véritable démo live ; sinon conservez une capture nette avec identité AfriWonder visible.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Pour chaque défi : symptôme, cause, contre-mesure, résultat partiel/complet.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Terminez cette slide par une phrase « ce n’est pas un échec, c’est une dette projetée avec plan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Clarifiez que la transition architecture est coûteuse : elle se fait après traction et métriques.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Reprendre 2 compétences en lien avec le référentiel ENSAK MGSI.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Une phrase forte : AfriWonder n’est pas un prototype isolé mais une base industrielle évolutive.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Clôture courte : résultat, limites assumées, ouverture industrialisation.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960120"/>
            <a:ext cx="5029200" cy="484632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38BDF8"/>
                </a:solidFill>
              </a:defRPr>
            </a:pPr>
            <a:r>
              <a:rPr>
                <a:latin typeface="Calibri"/>
              </a:rPr>
              <a:t>Soutenance de Projet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972800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8FAFC"/>
                </a:solidFill>
              </a:defRPr>
            </a:pPr>
            <a:r>
              <a:rPr>
                <a:latin typeface="Calibri"/>
              </a:rPr>
              <a:t>AfriWonder Super-App</a:t>
            </a:r>
          </a:p>
          <a:p>
            <a:pPr algn="ctr">
              <a:spcBef>
                <a:spcPts val="1000"/>
              </a:spcBef>
              <a:defRPr sz="1600">
                <a:solidFill>
                  <a:srgbClr val="38BDF8"/>
                </a:solidFill>
              </a:defRPr>
            </a:pPr>
            <a:r>
              <a:rPr>
                <a:latin typeface="Calibri"/>
              </a:rPr>
              <a:t>Écosystème numérique multi-services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783080" y="3611880"/>
            <a:ext cx="8613648" cy="2606040"/>
          </a:xfrm>
          <a:prstGeom prst="roundRect">
            <a:avLst>
              <a:gd name="adj" fmla="val 8000"/>
            </a:avLst>
          </a:prstGeom>
          <a:solidFill>
            <a:srgbClr val="151E35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91440"/>
          <a:lstStyle/>
          <a:p>
            <a:pPr algn="l">
              <a:defRPr sz="1350" b="0">
                <a:solidFill>
                  <a:srgbClr val="F8FAFC"/>
                </a:solidFill>
              </a:defRPr>
            </a:pPr>
            <a:r>
              <a:rPr>
                <a:latin typeface="Calibri"/>
              </a:rPr>
              <a:t>Candidat : FANE ABDOULAYE · Élève Ingénieur</a:t>
            </a:r>
          </a:p>
          <a:p>
            <a:pPr algn="l">
              <a:spcBef>
                <a:spcPts val="300"/>
              </a:spcBef>
              <a:defRPr sz="1250" b="0">
                <a:solidFill>
                  <a:srgbClr val="94A3B8"/>
                </a:solidFill>
              </a:defRPr>
            </a:pPr>
            <a:r>
              <a:rPr>
                <a:latin typeface="Calibri"/>
              </a:rPr>
              <a:t>Encadrant : Pr. HAMZA KHALFI</a:t>
            </a:r>
          </a:p>
          <a:p>
            <a:pPr algn="l">
              <a:spcBef>
                <a:spcPts val="300"/>
              </a:spcBef>
              <a:defRPr sz="1250" b="0">
                <a:solidFill>
                  <a:srgbClr val="94A3B8"/>
                </a:solidFill>
              </a:defRPr>
            </a:pPr>
            <a:r>
              <a:rPr>
                <a:latin typeface="Calibri"/>
              </a:rPr>
              <a:t>Filière : Management et Gouvernance des Systèmes d’Information (MGSI)</a:t>
            </a:r>
          </a:p>
          <a:p>
            <a:pPr algn="l">
              <a:spcBef>
                <a:spcPts val="300"/>
              </a:spcBef>
              <a:defRPr sz="1250" b="0">
                <a:solidFill>
                  <a:srgbClr val="94A3B8"/>
                </a:solidFill>
              </a:defRPr>
            </a:pPr>
            <a:r>
              <a:rPr>
                <a:latin typeface="Calibri"/>
              </a:rPr>
              <a:t>École Nationale des Sciences Appliquées de Khouribga (ENSAK)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23620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4A3B8"/>
                </a:solidFill>
              </a:defRPr>
            </a:pPr>
            <a:r>
              <a:rPr>
                <a:latin typeface="Calibri"/>
              </a:rPr>
              <a:t>AfriWonder — Projet d’ingénierie MGSI · Présentation complète avec illustrations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960120"/>
            <a:ext cx="5029200" cy="484632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Calibri"/>
              </a:rPr>
              <a:t>Sommaire de la présentation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97280"/>
            <a:ext cx="1078992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>
                <a:latin typeface="Calibri"/>
              </a:rPr>
              <a:t>• Introduction et contexte du projet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>
                <a:latin typeface="Calibri"/>
              </a:rPr>
              <a:t>• Objectifs du projet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>
                <a:latin typeface="Calibri"/>
              </a:rPr>
              <a:t>• Méthodologie de travail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>
                <a:latin typeface="Calibri"/>
              </a:rPr>
              <a:t>• Analyse fonctionnelle et métiers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>
                <a:latin typeface="Calibri"/>
              </a:rPr>
              <a:t>• Architecture système et stack technologique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>
                <a:latin typeface="Calibri"/>
              </a:rPr>
              <a:t>• Conception de la base de données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>
                <a:latin typeface="Calibri"/>
              </a:rPr>
              <a:t>• Développement mobile et PWA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>
                <a:latin typeface="Calibri"/>
              </a:rPr>
              <a:t>• Sécurité, performance et DevOps</a:t>
            </a:r>
          </a:p>
          <a:p>
            <a:pPr>
              <a:spcAft>
                <a:spcPts val="600"/>
              </a:spcAft>
              <a:defRPr sz="1250">
                <a:solidFill>
                  <a:srgbClr val="F8FAFC"/>
                </a:solidFill>
              </a:defRPr>
            </a:pPr>
            <a:r>
              <a:rPr>
                <a:latin typeface="Calibri"/>
              </a:rPr>
              <a:t>• Conclusion et perspectives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16768" y="1664208"/>
            <a:ext cx="457200" cy="402336"/>
          </a:xfrm>
          <a:prstGeom prst="roundRect">
            <a:avLst>
              <a:gd name="adj" fmla="val 8000"/>
            </a:avLst>
          </a:prstGeom>
          <a:solidFill>
            <a:srgbClr val="151E35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ctr">
              <a:defRPr sz="1000" b="1">
                <a:solidFill>
                  <a:srgbClr val="F8FAFC"/>
                </a:solidFill>
              </a:defRPr>
            </a:pPr>
            <a:r>
              <a:rPr>
                <a:latin typeface="Calibri"/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716768" y="2066544"/>
            <a:ext cx="457200" cy="402336"/>
          </a:xfrm>
          <a:prstGeom prst="roundRect">
            <a:avLst>
              <a:gd name="adj" fmla="val 8000"/>
            </a:avLst>
          </a:prstGeom>
          <a:solidFill>
            <a:srgbClr val="151E35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ctr">
              <a:defRPr sz="1000" b="1">
                <a:solidFill>
                  <a:srgbClr val="F8FAFC"/>
                </a:solidFill>
              </a:defRPr>
            </a:pPr>
            <a:r>
              <a:rPr>
                <a:latin typeface="Calibri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16768" y="2468880"/>
            <a:ext cx="457200" cy="402336"/>
          </a:xfrm>
          <a:prstGeom prst="roundRect">
            <a:avLst>
              <a:gd name="adj" fmla="val 8000"/>
            </a:avLst>
          </a:prstGeom>
          <a:solidFill>
            <a:srgbClr val="151E35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ctr">
              <a:defRPr sz="1000" b="1">
                <a:solidFill>
                  <a:srgbClr val="F8FAFC"/>
                </a:solidFill>
              </a:defRPr>
            </a:pPr>
            <a:r>
              <a:rPr>
                <a:latin typeface="Calibri"/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716768" y="2871216"/>
            <a:ext cx="457200" cy="402336"/>
          </a:xfrm>
          <a:prstGeom prst="roundRect">
            <a:avLst>
              <a:gd name="adj" fmla="val 8000"/>
            </a:avLst>
          </a:prstGeom>
          <a:solidFill>
            <a:srgbClr val="151E35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ctr">
              <a:defRPr sz="1000" b="1">
                <a:solidFill>
                  <a:srgbClr val="F8FAFC"/>
                </a:solidFill>
              </a:defRPr>
            </a:pPr>
            <a:r>
              <a:rPr>
                <a:latin typeface="Calibri"/>
              </a:rPr>
              <a:t>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716768" y="3273552"/>
            <a:ext cx="457200" cy="402336"/>
          </a:xfrm>
          <a:prstGeom prst="roundRect">
            <a:avLst>
              <a:gd name="adj" fmla="val 8000"/>
            </a:avLst>
          </a:prstGeom>
          <a:solidFill>
            <a:srgbClr val="151E35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ctr">
              <a:defRPr sz="1000" b="1">
                <a:solidFill>
                  <a:srgbClr val="F8FAFC"/>
                </a:solidFill>
              </a:defRPr>
            </a:pPr>
            <a:r>
              <a:rPr>
                <a:latin typeface="Calibri"/>
              </a:rPr>
              <a:t>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716768" y="3675888"/>
            <a:ext cx="457200" cy="402336"/>
          </a:xfrm>
          <a:prstGeom prst="roundRect">
            <a:avLst>
              <a:gd name="adj" fmla="val 8000"/>
            </a:avLst>
          </a:prstGeom>
          <a:solidFill>
            <a:srgbClr val="151E35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ctr">
              <a:defRPr sz="1000" b="1">
                <a:solidFill>
                  <a:srgbClr val="F8FAFC"/>
                </a:solidFill>
              </a:defRPr>
            </a:pPr>
            <a:r>
              <a:rPr>
                <a:latin typeface="Calibri"/>
              </a:rPr>
              <a:t>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716768" y="4078224"/>
            <a:ext cx="457200" cy="402336"/>
          </a:xfrm>
          <a:prstGeom prst="roundRect">
            <a:avLst>
              <a:gd name="adj" fmla="val 8000"/>
            </a:avLst>
          </a:prstGeom>
          <a:solidFill>
            <a:srgbClr val="151E35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ctr">
              <a:defRPr sz="1000" b="1">
                <a:solidFill>
                  <a:srgbClr val="F8FAFC"/>
                </a:solidFill>
              </a:defRPr>
            </a:pPr>
            <a:r>
              <a:rPr>
                <a:latin typeface="Calibri"/>
              </a:rPr>
              <a:t>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716768" y="4480560"/>
            <a:ext cx="457200" cy="402336"/>
          </a:xfrm>
          <a:prstGeom prst="roundRect">
            <a:avLst>
              <a:gd name="adj" fmla="val 8000"/>
            </a:avLst>
          </a:prstGeom>
          <a:solidFill>
            <a:srgbClr val="151E35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ctr">
              <a:defRPr sz="1000" b="1">
                <a:solidFill>
                  <a:srgbClr val="F8FAFC"/>
                </a:solidFill>
              </a:defRPr>
            </a:pPr>
            <a:r>
              <a:rPr>
                <a:latin typeface="Calibri"/>
              </a:rPr>
              <a:t>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716768" y="4882896"/>
            <a:ext cx="457200" cy="402336"/>
          </a:xfrm>
          <a:prstGeom prst="roundRect">
            <a:avLst>
              <a:gd name="adj" fmla="val 8000"/>
            </a:avLst>
          </a:prstGeom>
          <a:solidFill>
            <a:srgbClr val="151E35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ctr">
              <a:defRPr sz="1000" b="1">
                <a:solidFill>
                  <a:srgbClr val="F8FAFC"/>
                </a:solidFill>
              </a:defRPr>
            </a:pPr>
            <a:r>
              <a:rPr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960120"/>
            <a:ext cx="5029200" cy="484632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Calibri"/>
              </a:rPr>
              <a:t>Introduction au projet AfriWonder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97280"/>
            <a:ext cx="1078992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</a:defRPr>
            </a:pPr>
            <a:r>
              <a:rPr>
                <a:latin typeface="Calibri"/>
              </a:rPr>
              <a:t>• Genèse : répondre à la fragmentation numérique en Afrique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</a:defRPr>
            </a:pPr>
            <a:r>
              <a:rPr>
                <a:latin typeface="Calibri"/>
              </a:rPr>
              <a:t>• Vision : une « Super-App » unifiée (Social, Commerce, Finance, Services)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</a:defRPr>
            </a:pPr>
            <a:r>
              <a:rPr>
                <a:latin typeface="Calibri"/>
              </a:rPr>
              <a:t>• Ambition : centraliser l’expérience dans un écosystème régional cohérent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</a:defRPr>
            </a:pPr>
            <a:r>
              <a:rPr>
                <a:latin typeface="Calibri"/>
              </a:rPr>
              <a:t>• Valeur ajoutée : accessibilité, monétisation locale, services de proximité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960120"/>
            <a:ext cx="5029200" cy="484632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rPr>
                <a:latin typeface="Calibri"/>
              </a:rPr>
              <a:t>Objectifs du projet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1115568"/>
            <a:ext cx="5596128" cy="4800600"/>
          </a:xfrm>
          <a:prstGeom prst="roundRect">
            <a:avLst>
              <a:gd name="adj" fmla="val 8000"/>
            </a:avLst>
          </a:prstGeom>
          <a:solidFill>
            <a:srgbClr val="151E35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91440"/>
          <a:lstStyle/>
          <a:p>
            <a:pPr algn="l">
              <a:defRPr sz="1400" b="0">
                <a:solidFill>
                  <a:srgbClr val="F8FAFC"/>
                </a:solidFill>
              </a:defRPr>
            </a:pPr>
            <a:r>
              <a:rPr>
                <a:latin typeface="Calibri"/>
              </a:rPr>
              <a:t>Objectifs généraux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94A3B8"/>
                </a:solidFill>
              </a:defRPr>
            </a:pPr>
            <a:r>
              <a:rPr>
                <a:latin typeface="Calibri"/>
              </a:rPr>
              <a:t> 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94A3B8"/>
                </a:solidFill>
              </a:defRPr>
            </a:pPr>
            <a:r>
              <a:rPr>
                <a:latin typeface="Calibri"/>
              </a:rPr>
              <a:t>• Créer une super-app africaine multi-services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94A3B8"/>
                </a:solidFill>
              </a:defRPr>
            </a:pPr>
            <a:r>
              <a:rPr>
                <a:latin typeface="Calibri"/>
              </a:rPr>
              <a:t>• Centraliser les services numériques dans une seule plateforme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94A3B8"/>
                </a:solidFill>
              </a:defRPr>
            </a:pPr>
            <a:r>
              <a:rPr>
                <a:latin typeface="Calibri"/>
              </a:rPr>
              <a:t>• Optimiser l’accessibilité mobile et web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55080" y="1115568"/>
            <a:ext cx="5577840" cy="4800600"/>
          </a:xfrm>
          <a:prstGeom prst="roundRect">
            <a:avLst>
              <a:gd name="adj" fmla="val 8000"/>
            </a:avLst>
          </a:prstGeom>
          <a:solidFill>
            <a:srgbClr val="151E35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91440"/>
          <a:lstStyle/>
          <a:p>
            <a:pPr algn="l">
              <a:defRPr sz="1400" b="0">
                <a:solidFill>
                  <a:srgbClr val="F8FAFC"/>
                </a:solidFill>
              </a:defRPr>
            </a:pPr>
            <a:r>
              <a:rPr>
                <a:latin typeface="Calibri"/>
              </a:rPr>
              <a:t>Objectifs techniques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94A3B8"/>
                </a:solidFill>
              </a:defRPr>
            </a:pPr>
            <a:r>
              <a:rPr>
                <a:latin typeface="Calibri"/>
              </a:rPr>
              <a:t> 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94A3B8"/>
                </a:solidFill>
              </a:defRPr>
            </a:pPr>
            <a:r>
              <a:rPr>
                <a:latin typeface="Calibri"/>
              </a:rPr>
              <a:t>• Concevoir une architecture scalable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94A3B8"/>
                </a:solidFill>
              </a:defRPr>
            </a:pPr>
            <a:r>
              <a:rPr>
                <a:latin typeface="Calibri"/>
              </a:rPr>
              <a:t>• Assurer la sécurité des transactions</a:t>
            </a:r>
          </a:p>
          <a:p>
            <a:pPr algn="l">
              <a:spcBef>
                <a:spcPts val="300"/>
              </a:spcBef>
              <a:defRPr sz="1300" b="0">
                <a:solidFill>
                  <a:srgbClr val="94A3B8"/>
                </a:solidFill>
              </a:defRPr>
            </a:pPr>
            <a:r>
              <a:rPr>
                <a:latin typeface="Calibri"/>
              </a:rPr>
              <a:t>• Permettre le temps réel et la haute disponibilité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14476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4A3B8"/>
                </a:solidFill>
              </a:defRPr>
            </a:pPr>
            <a:r>
              <a:rPr>
                <a:latin typeface="Calibri"/>
              </a:rPr>
              <a:t>Cette slide relie la vision métier aux exigences d’ingénierie avant la problématique et les besoins détaillés.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960120"/>
            <a:ext cx="5029200" cy="484632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Calibri"/>
              </a:rPr>
              <a:t>Méthodologie de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97280"/>
            <a:ext cx="1078992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</a:defRPr>
            </a:pPr>
            <a:r>
              <a:rPr>
                <a:latin typeface="Calibri"/>
              </a:rPr>
              <a:t>• Méthode Agile / Scrum (itérations courtes, livrables incrémentaux, revues régulières)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</a:defRPr>
            </a:pPr>
            <a:r>
              <a:rPr>
                <a:latin typeface="Calibri"/>
              </a:rPr>
              <a:t>• Gestion des versions avec Git / GitHub (branches thématiques, Pull Requests)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</a:defRPr>
            </a:pPr>
            <a:r>
              <a:rPr>
                <a:latin typeface="Calibri"/>
              </a:rPr>
              <a:t>• Découpage en sprints avec objectifs livrables (features + correctifs)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</a:defRPr>
            </a:pPr>
            <a:r>
              <a:rPr>
                <a:latin typeface="Calibri"/>
              </a:rPr>
              <a:t>• Suivi des tâches (issues / backlog GitHub ou équivalent : À faire · En cours · Terminé)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</a:defRPr>
            </a:pPr>
            <a:r>
              <a:rPr>
                <a:latin typeface="Calibri"/>
              </a:rPr>
              <a:t>• Workflow CI/CD : lint, typecheck, tests automatisés, garde qualité avant merge et déploiement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960120"/>
            <a:ext cx="5029200" cy="484632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Calibri"/>
              </a:rPr>
              <a:t>Problématique et enjeux stratégiques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97280"/>
            <a:ext cx="1078992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</a:defRPr>
            </a:pPr>
            <a:r>
              <a:rPr>
                <a:latin typeface="Calibri"/>
              </a:rPr>
              <a:t>• Fragmentation des services mobiles en Afrique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</a:defRPr>
            </a:pPr>
            <a:r>
              <a:rPr>
                <a:latin typeface="Calibri"/>
              </a:rPr>
              <a:t>• Difficultés d’accès aux infrastructures de paiement internationales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</a:defRPr>
            </a:pPr>
            <a:r>
              <a:rPr>
                <a:latin typeface="Calibri"/>
              </a:rPr>
              <a:t>• Contraintes de connectivité et de performance des terminaux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</a:defRPr>
            </a:pPr>
            <a:r>
              <a:rPr>
                <a:latin typeface="Calibri"/>
              </a:rPr>
              <a:t>• Nécessité d’une gouvernance centralisée des données (MGSI)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960120"/>
            <a:ext cx="5029200" cy="484632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Calibri"/>
              </a:rPr>
              <a:t>Analyse des besoins fonctionnels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97280"/>
            <a:ext cx="1078992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</a:defRPr>
            </a:pPr>
            <a:r>
              <a:rPr>
                <a:latin typeface="Calibri"/>
              </a:rPr>
              <a:t>• Modules principaux : feed vidéo, marketplace, messagerie temps réel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</a:defRPr>
            </a:pPr>
            <a:r>
              <a:rPr>
                <a:latin typeface="Calibri"/>
              </a:rPr>
              <a:t>• Services intégrés : wallet, transport, santé, tontines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</a:defRPr>
            </a:pPr>
            <a:r>
              <a:rPr>
                <a:latin typeface="Calibri"/>
              </a:rPr>
              <a:t>• Profils : créateurs, vendeurs, prestataires, administrateurs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</a:defRPr>
            </a:pPr>
            <a:r>
              <a:rPr>
                <a:latin typeface="Calibri"/>
              </a:rPr>
              <a:t>• Transverse : traduction, chatbots, notifications push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960120"/>
            <a:ext cx="5029200" cy="484632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Calibri"/>
              </a:rPr>
              <a:t>Cartographie des cas d’utilisation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97280"/>
            <a:ext cx="1078992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</a:defRPr>
            </a:pPr>
            <a:r>
              <a:rPr>
                <a:latin typeface="Calibri"/>
              </a:rPr>
              <a:t>• Social : publication et interaction sur le contenu vidéo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</a:defRPr>
            </a:pPr>
            <a:r>
              <a:rPr>
                <a:latin typeface="Calibri"/>
              </a:rPr>
              <a:t>• Marketplace : cycle annonce → panier → paiement sécurisé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</a:defRPr>
            </a:pPr>
            <a:r>
              <a:rPr>
                <a:latin typeface="Calibri"/>
              </a:rPr>
              <a:t>• Wallet : solde, historique, règles de sécurité (PIN / limites selon implémentation)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</a:defRPr>
            </a:pPr>
            <a:r>
              <a:rPr>
                <a:latin typeface="Calibri"/>
              </a:rPr>
              <a:t>• Gouvernance : modération et administration globale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960120"/>
            <a:ext cx="5029200" cy="484632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Calibri"/>
              </a:rPr>
              <a:t>Architecture logique du système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697480" y="1234440"/>
            <a:ext cx="6784848" cy="804672"/>
          </a:xfrm>
          <a:prstGeom prst="roundRect">
            <a:avLst>
              <a:gd name="adj" fmla="val 8000"/>
            </a:avLst>
          </a:prstGeom>
          <a:solidFill>
            <a:srgbClr val="151E35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91440"/>
          <a:lstStyle/>
          <a:p>
            <a:pPr algn="l">
              <a:defRPr sz="1150" b="1">
                <a:solidFill>
                  <a:srgbClr val="F8FAFC"/>
                </a:solidFill>
              </a:defRPr>
            </a:pPr>
            <a:r>
              <a:rPr>
                <a:latin typeface="Calibri"/>
              </a:rPr>
              <a:t>Clients</a:t>
            </a:r>
          </a:p>
          <a:p>
            <a:pPr algn="l">
              <a:spcBef>
                <a:spcPts val="300"/>
              </a:spcBef>
              <a:defRPr sz="1050" b="0">
                <a:solidFill>
                  <a:srgbClr val="94A3B8"/>
                </a:solidFill>
              </a:defRPr>
            </a:pPr>
            <a:r>
              <a:rPr>
                <a:latin typeface="Calibri"/>
              </a:rPr>
              <a:t>PWA (Vite/React) · Mobile (Expo/RN)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9904" y="2048256"/>
            <a:ext cx="0" cy="100584"/>
          </a:xfrm>
          <a:prstGeom prst="line">
            <a:avLst/>
          </a:prstGeom>
          <a:ln w="1270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697480" y="2304288"/>
            <a:ext cx="6784848" cy="804672"/>
          </a:xfrm>
          <a:prstGeom prst="roundRect">
            <a:avLst>
              <a:gd name="adj" fmla="val 8000"/>
            </a:avLst>
          </a:prstGeom>
          <a:solidFill>
            <a:srgbClr val="151E35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91440"/>
          <a:lstStyle/>
          <a:p>
            <a:pPr algn="l">
              <a:defRPr sz="1150" b="1">
                <a:solidFill>
                  <a:srgbClr val="F8FAFC"/>
                </a:solidFill>
              </a:defRPr>
            </a:pPr>
            <a:r>
              <a:rPr>
                <a:latin typeface="Calibri"/>
              </a:rPr>
              <a:t>Communication</a:t>
            </a:r>
          </a:p>
          <a:p>
            <a:pPr algn="l">
              <a:spcBef>
                <a:spcPts val="300"/>
              </a:spcBef>
              <a:defRPr sz="1050" b="0">
                <a:solidFill>
                  <a:srgbClr val="94A3B8"/>
                </a:solidFill>
              </a:defRPr>
            </a:pPr>
            <a:r>
              <a:rPr>
                <a:latin typeface="Calibri"/>
              </a:rPr>
              <a:t>REST JWT · WebSockets Socket.IO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89904" y="3118104"/>
            <a:ext cx="0" cy="100584"/>
          </a:xfrm>
          <a:prstGeom prst="line">
            <a:avLst/>
          </a:prstGeom>
          <a:ln w="1270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697480" y="3401568"/>
            <a:ext cx="6784848" cy="804672"/>
          </a:xfrm>
          <a:prstGeom prst="roundRect">
            <a:avLst>
              <a:gd name="adj" fmla="val 8000"/>
            </a:avLst>
          </a:prstGeom>
          <a:solidFill>
            <a:srgbClr val="151E35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91440"/>
          <a:lstStyle/>
          <a:p>
            <a:pPr algn="l">
              <a:defRPr sz="1150" b="1">
                <a:solidFill>
                  <a:srgbClr val="F8FAFC"/>
                </a:solidFill>
              </a:defRPr>
            </a:pPr>
            <a:r>
              <a:rPr>
                <a:latin typeface="Calibri"/>
              </a:rPr>
              <a:t>Backend</a:t>
            </a:r>
          </a:p>
          <a:p>
            <a:pPr algn="l">
              <a:spcBef>
                <a:spcPts val="300"/>
              </a:spcBef>
              <a:defRPr sz="1050" b="0">
                <a:solidFill>
                  <a:srgbClr val="94A3B8"/>
                </a:solidFill>
              </a:defRPr>
            </a:pPr>
            <a:r>
              <a:rPr>
                <a:latin typeface="Calibri"/>
              </a:rPr>
              <a:t>Express · Routes / Services · Zod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89904" y="4215384"/>
            <a:ext cx="0" cy="100584"/>
          </a:xfrm>
          <a:prstGeom prst="line">
            <a:avLst/>
          </a:prstGeom>
          <a:ln w="1270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697480" y="4480560"/>
            <a:ext cx="6784848" cy="804672"/>
          </a:xfrm>
          <a:prstGeom prst="roundRect">
            <a:avLst>
              <a:gd name="adj" fmla="val 8000"/>
            </a:avLst>
          </a:prstGeom>
          <a:solidFill>
            <a:srgbClr val="151E35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91440"/>
          <a:lstStyle/>
          <a:p>
            <a:pPr algn="l">
              <a:defRPr sz="1150" b="1">
                <a:solidFill>
                  <a:srgbClr val="F8FAFC"/>
                </a:solidFill>
              </a:defRPr>
            </a:pPr>
            <a:r>
              <a:rPr>
                <a:latin typeface="Calibri"/>
              </a:rPr>
              <a:t>Persistance</a:t>
            </a:r>
          </a:p>
          <a:p>
            <a:pPr algn="l">
              <a:spcBef>
                <a:spcPts val="300"/>
              </a:spcBef>
              <a:defRPr sz="1050" b="0">
                <a:solidFill>
                  <a:srgbClr val="94A3B8"/>
                </a:solidFill>
              </a:defRPr>
            </a:pPr>
            <a:r>
              <a:rPr>
                <a:latin typeface="Calibri"/>
              </a:rPr>
              <a:t>Prisma · PostgreSQL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89904" y="5294376"/>
            <a:ext cx="0" cy="100584"/>
          </a:xfrm>
          <a:prstGeom prst="line">
            <a:avLst/>
          </a:prstGeom>
          <a:ln w="1270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697480" y="5559552"/>
            <a:ext cx="6784848" cy="804672"/>
          </a:xfrm>
          <a:prstGeom prst="roundRect">
            <a:avLst>
              <a:gd name="adj" fmla="val 8000"/>
            </a:avLst>
          </a:prstGeom>
          <a:solidFill>
            <a:srgbClr val="151E35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91440"/>
          <a:lstStyle/>
          <a:p>
            <a:pPr algn="l">
              <a:defRPr sz="1150" b="1">
                <a:solidFill>
                  <a:srgbClr val="F8FAFC"/>
                </a:solidFill>
              </a:defRPr>
            </a:pPr>
            <a:r>
              <a:rPr>
                <a:latin typeface="Calibri"/>
              </a:rPr>
              <a:t>Cache temps réel</a:t>
            </a:r>
          </a:p>
          <a:p>
            <a:pPr algn="l">
              <a:spcBef>
                <a:spcPts val="300"/>
              </a:spcBef>
              <a:defRPr sz="1050" b="0">
                <a:solidFill>
                  <a:srgbClr val="94A3B8"/>
                </a:solidFill>
              </a:defRPr>
            </a:pPr>
            <a:r>
              <a:rPr>
                <a:latin typeface="Calibri"/>
              </a:rPr>
              <a:t>Redis · rate limit · adapter sockets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89904" y="6373368"/>
            <a:ext cx="0" cy="100584"/>
          </a:xfrm>
          <a:prstGeom prst="line">
            <a:avLst/>
          </a:prstGeom>
          <a:ln w="1270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960120"/>
            <a:ext cx="5029200" cy="484632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Calibri"/>
              </a:rPr>
              <a:t>Stack technologique : choix d’efficacité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97280"/>
            <a:ext cx="1078992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</a:defRPr>
            </a:pPr>
            <a:r>
              <a:rPr>
                <a:latin typeface="Calibri"/>
              </a:rPr>
              <a:t>• Typescript côté backend et sur une grande partie des clients (alignement d’équipe)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</a:defRPr>
            </a:pPr>
            <a:r>
              <a:rPr>
                <a:latin typeface="Calibri"/>
              </a:rPr>
              <a:t>• Backend : Node.js + Express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</a:defRPr>
            </a:pPr>
            <a:r>
              <a:rPr>
                <a:latin typeface="Calibri"/>
              </a:rPr>
              <a:t>• Web PWA : React 18 + Vite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</a:defRPr>
            </a:pPr>
            <a:r>
              <a:rPr>
                <a:latin typeface="Calibri"/>
              </a:rPr>
              <a:t>• Mobile : React Native + Expo (SDK 54+)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960120"/>
            <a:ext cx="5029200" cy="484632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Calibri"/>
              </a:rPr>
              <a:t>Architecture backend et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97280"/>
            <a:ext cx="1078992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</a:defRPr>
            </a:pPr>
            <a:r>
              <a:rPr>
                <a:latin typeface="Calibri"/>
              </a:rPr>
              <a:t>• Routage structuré par domaine métier (social, marketplace, wallet, services…)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</a:defRPr>
            </a:pPr>
            <a:r>
              <a:rPr>
                <a:latin typeface="Calibri"/>
              </a:rPr>
              <a:t>• Validation Zod sur les entrées sensibles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</a:defRPr>
            </a:pPr>
            <a:r>
              <a:rPr>
                <a:latin typeface="Calibri"/>
              </a:rPr>
              <a:t>• Middlewares : JWT, rate limiting, Helmet, CORS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</a:defRPr>
            </a:pPr>
            <a:r>
              <a:rPr>
                <a:latin typeface="Calibri"/>
              </a:rPr>
              <a:t>• Médias : Multer + traitements (ex. Sharp / transcodage selon chemins)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960120"/>
            <a:ext cx="5029200" cy="484632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Calibri"/>
              </a:rPr>
              <a:t>Modélisation des données avec Prisma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97280"/>
            <a:ext cx="1078992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</a:defRPr>
            </a:pPr>
            <a:r>
              <a:rPr>
                <a:latin typeface="Calibri"/>
              </a:rPr>
              <a:t>• ORM Prisma pour productivité et typage fort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</a:defRPr>
            </a:pPr>
            <a:r>
              <a:rPr>
                <a:latin typeface="Calibri"/>
              </a:rPr>
              <a:t>• PostgreSQL relationnel, schéma étendu (≈ 100 modèles dans le schéma Prisma du dépôt)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</a:defRPr>
            </a:pPr>
            <a:r>
              <a:rPr>
                <a:latin typeface="Calibri"/>
              </a:rPr>
              <a:t>• Migrations automatisées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</a:defRPr>
            </a:pPr>
            <a:r>
              <a:rPr>
                <a:latin typeface="Calibri"/>
              </a:rPr>
              <a:t>• Optimisation des requêtes pour volumes importants (index, requêtes ciblées)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960120"/>
            <a:ext cx="5029200" cy="484632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Calibri"/>
              </a:rPr>
              <a:t>Schéma : User comme hub métier</a:t>
            </a:r>
          </a:p>
        </p:txBody>
      </p:sp>
      <p:sp>
        <p:nvSpPr>
          <p:cNvPr id="4" name="Oval 3"/>
          <p:cNvSpPr/>
          <p:nvPr/>
        </p:nvSpPr>
        <p:spPr>
          <a:xfrm>
            <a:off x="5413248" y="2670048"/>
            <a:ext cx="1965960" cy="960120"/>
          </a:xfrm>
          <a:prstGeom prst="ellipse">
            <a:avLst/>
          </a:prstGeom>
          <a:solidFill>
            <a:srgbClr val="151E35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700">
                <a:solidFill>
                  <a:srgbClr val="F8FAFC"/>
                </a:solidFill>
              </a:defRPr>
            </a:pPr>
            <a:r>
              <a:rPr>
                <a:latin typeface="Calibri"/>
              </a:rPr>
              <a:t>USER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" y="1234440"/>
            <a:ext cx="2212848" cy="566928"/>
          </a:xfrm>
          <a:prstGeom prst="roundRect">
            <a:avLst>
              <a:gd name="adj" fmla="val 8000"/>
            </a:avLst>
          </a:prstGeom>
          <a:solidFill>
            <a:srgbClr val="151E35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l">
              <a:defRPr sz="1200" b="1">
                <a:solidFill>
                  <a:srgbClr val="F8FAFC"/>
                </a:solidFill>
              </a:defRPr>
            </a:pPr>
            <a:r>
              <a:rPr>
                <a:latin typeface="Calibri"/>
              </a:rPr>
              <a:t>Vidéos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911095" y="1517904"/>
            <a:ext cx="4485133" cy="1632204"/>
          </a:xfrm>
          <a:prstGeom prst="line">
            <a:avLst/>
          </a:prstGeom>
          <a:ln w="127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8915400" y="1234440"/>
            <a:ext cx="2212848" cy="566928"/>
          </a:xfrm>
          <a:prstGeom prst="roundRect">
            <a:avLst>
              <a:gd name="adj" fmla="val 8000"/>
            </a:avLst>
          </a:prstGeom>
          <a:solidFill>
            <a:srgbClr val="151E35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l">
              <a:defRPr sz="1200" b="1">
                <a:solidFill>
                  <a:srgbClr val="F8FAFC"/>
                </a:solidFill>
              </a:defRPr>
            </a:pPr>
            <a:r>
              <a:rPr>
                <a:latin typeface="Calibri"/>
              </a:rPr>
              <a:t>Order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6396228" y="1517904"/>
            <a:ext cx="3625596" cy="1632204"/>
          </a:xfrm>
          <a:prstGeom prst="line">
            <a:avLst/>
          </a:prstGeom>
          <a:ln w="127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49808" y="3584448"/>
            <a:ext cx="2212848" cy="566928"/>
          </a:xfrm>
          <a:prstGeom prst="roundRect">
            <a:avLst>
              <a:gd name="adj" fmla="val 8000"/>
            </a:avLst>
          </a:prstGeom>
          <a:solidFill>
            <a:srgbClr val="151E35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l">
              <a:defRPr sz="1200" b="1">
                <a:solidFill>
                  <a:srgbClr val="F8FAFC"/>
                </a:solidFill>
              </a:defRPr>
            </a:pPr>
            <a:r>
              <a:rPr>
                <a:latin typeface="Calibri"/>
              </a:rPr>
              <a:t>Wallet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1856231" y="3150108"/>
            <a:ext cx="4539997" cy="717803"/>
          </a:xfrm>
          <a:prstGeom prst="line">
            <a:avLst/>
          </a:prstGeom>
          <a:ln w="127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070848" y="3584448"/>
            <a:ext cx="2212848" cy="566928"/>
          </a:xfrm>
          <a:prstGeom prst="roundRect">
            <a:avLst>
              <a:gd name="adj" fmla="val 8000"/>
            </a:avLst>
          </a:prstGeom>
          <a:solidFill>
            <a:srgbClr val="151E35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l">
              <a:defRPr sz="1200" b="1">
                <a:solidFill>
                  <a:srgbClr val="F8FAFC"/>
                </a:solidFill>
              </a:defRPr>
            </a:pPr>
            <a:r>
              <a:rPr>
                <a:latin typeface="Calibri"/>
              </a:rPr>
              <a:t>Stories</a:t>
            </a:r>
          </a:p>
        </p:txBody>
      </p:sp>
      <p:cxnSp>
        <p:nvCxnSpPr>
          <p:cNvPr id="12" name="Connector 11"/>
          <p:cNvCxnSpPr/>
          <p:nvPr/>
        </p:nvCxnSpPr>
        <p:spPr>
          <a:xfrm flipH="1" flipV="1">
            <a:off x="6396228" y="3150108"/>
            <a:ext cx="3781044" cy="717803"/>
          </a:xfrm>
          <a:prstGeom prst="line">
            <a:avLst/>
          </a:prstGeom>
          <a:ln w="127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86384" y="5321808"/>
            <a:ext cx="2212848" cy="566928"/>
          </a:xfrm>
          <a:prstGeom prst="roundRect">
            <a:avLst>
              <a:gd name="adj" fmla="val 8000"/>
            </a:avLst>
          </a:prstGeom>
          <a:solidFill>
            <a:srgbClr val="151E35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l">
              <a:defRPr sz="1200" b="1">
                <a:solidFill>
                  <a:srgbClr val="F8FAFC"/>
                </a:solidFill>
              </a:defRPr>
            </a:pPr>
            <a:r>
              <a:rPr>
                <a:latin typeface="Calibri"/>
              </a:rPr>
              <a:t>Messagerie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1892807" y="3150108"/>
            <a:ext cx="4503421" cy="2455164"/>
          </a:xfrm>
          <a:prstGeom prst="line">
            <a:avLst/>
          </a:prstGeom>
          <a:ln w="127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887968" y="5321808"/>
            <a:ext cx="2212848" cy="566928"/>
          </a:xfrm>
          <a:prstGeom prst="roundRect">
            <a:avLst>
              <a:gd name="adj" fmla="val 8000"/>
            </a:avLst>
          </a:prstGeom>
          <a:solidFill>
            <a:srgbClr val="151E35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l">
              <a:defRPr sz="1200" b="1">
                <a:solidFill>
                  <a:srgbClr val="F8FAFC"/>
                </a:solidFill>
              </a:defRPr>
            </a:pPr>
            <a:r>
              <a:rPr>
                <a:latin typeface="Calibri"/>
              </a:rPr>
              <a:t>Marketplace</a:t>
            </a:r>
          </a:p>
        </p:txBody>
      </p:sp>
      <p:cxnSp>
        <p:nvCxnSpPr>
          <p:cNvPr id="16" name="Connector 15"/>
          <p:cNvCxnSpPr/>
          <p:nvPr/>
        </p:nvCxnSpPr>
        <p:spPr>
          <a:xfrm flipH="1" flipV="1">
            <a:off x="6396228" y="3150108"/>
            <a:ext cx="3598164" cy="2455164"/>
          </a:xfrm>
          <a:prstGeom prst="line">
            <a:avLst/>
          </a:prstGeom>
          <a:ln w="127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58368" y="5989320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94A3B8"/>
                </a:solidFill>
              </a:defRPr>
            </a:pPr>
            <a:r>
              <a:rPr>
                <a:latin typeface="Calibri"/>
              </a:rPr>
              <a:t>Illustration relationnelle : un utilisateur peut cumuler rôles (créateur, acheteur, prestataire) selon modules.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960120"/>
            <a:ext cx="5029200" cy="484632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Calibri"/>
              </a:rPr>
              <a:t>Structure du schéma (focus métier)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97280"/>
            <a:ext cx="1078992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</a:defRPr>
            </a:pPr>
            <a:r>
              <a:rPr>
                <a:latin typeface="Calibri"/>
              </a:rPr>
              <a:t>• User : pivot vidéos, wallet, commandes, rôles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</a:defRPr>
            </a:pPr>
            <a:r>
              <a:rPr>
                <a:latin typeface="Calibri"/>
              </a:rPr>
              <a:t>• Marketplace : produits, catégories, panier, stocks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</a:defRPr>
            </a:pPr>
            <a:r>
              <a:rPr>
                <a:latin typeface="Calibri"/>
              </a:rPr>
              <a:t>• Wallet : transactions, soldes, historique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</a:defRPr>
            </a:pPr>
            <a:r>
              <a:rPr>
                <a:latin typeface="Calibri"/>
              </a:rPr>
              <a:t>• Social : abonnements, commentaires, likes, stories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960120"/>
            <a:ext cx="5029200" cy="484632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Calibri"/>
              </a:rPr>
              <a:t>Stratégie frontend : PWA vs mobile natif (Expo)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97280"/>
            <a:ext cx="1078992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</a:defRPr>
            </a:pPr>
            <a:r>
              <a:rPr>
                <a:latin typeface="Calibri"/>
              </a:rPr>
              <a:t>• PWA : reach web, SEO, déploiement rapide, expérience légère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</a:defRPr>
            </a:pPr>
            <a:r>
              <a:rPr>
                <a:latin typeface="Calibri"/>
              </a:rPr>
              <a:t>• Mobile : caméra, notifications push, modules natifs, usage terrain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</a:defRPr>
            </a:pPr>
            <a:r>
              <a:rPr>
                <a:latin typeface="Calibri"/>
              </a:rPr>
              <a:t>• Partage des principes d’intégration API (même contrat backend)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</a:defRPr>
            </a:pPr>
            <a:r>
              <a:rPr>
                <a:latin typeface="Calibri"/>
              </a:rPr>
              <a:t>• UI web : Tailwind + composants ; mobile : design system RN cohérent avec la marque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960120"/>
            <a:ext cx="5029200" cy="484632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Calibri"/>
              </a:rPr>
              <a:t>État serveur et expérience utilisateur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97280"/>
            <a:ext cx="1078992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</a:defRPr>
            </a:pPr>
            <a:r>
              <a:rPr>
                <a:latin typeface="Calibri"/>
              </a:rPr>
              <a:t>• TanStack Query pour cache, re-fetch et résilience réseau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</a:defRPr>
            </a:pPr>
            <a:r>
              <a:rPr>
                <a:latin typeface="Calibri"/>
              </a:rPr>
              <a:t>• Zustand pour état global léger (session, préférences)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</a:defRPr>
            </a:pPr>
            <a:r>
              <a:rPr>
                <a:latin typeface="Calibri"/>
              </a:rPr>
              <a:t>• Persistance locale (stockage sécurisé côté mobile selon modules)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</a:defRPr>
            </a:pPr>
            <a:r>
              <a:rPr>
                <a:latin typeface="Calibri"/>
              </a:rPr>
              <a:t>• Optimistic UI sur interactions sociales (likes, commentaires) lorsque pertinent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960120"/>
            <a:ext cx="5029200" cy="484632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Calibri"/>
              </a:rPr>
              <a:t>Illustration : temps réel (Socket.IO)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874519"/>
            <a:ext cx="2148840" cy="1691640"/>
          </a:xfrm>
          <a:prstGeom prst="roundRect">
            <a:avLst>
              <a:gd name="adj" fmla="val 8000"/>
            </a:avLst>
          </a:prstGeom>
          <a:solidFill>
            <a:srgbClr val="151E35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l">
              <a:defRPr sz="1100" b="1">
                <a:solidFill>
                  <a:srgbClr val="F8FAFC"/>
                </a:solidFill>
              </a:defRPr>
            </a:pPr>
            <a:r>
              <a:rPr>
                <a:latin typeface="Calibri"/>
              </a:rPr>
              <a:t>Client A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94A3B8"/>
                </a:solidFill>
              </a:defRPr>
            </a:pPr>
            <a:r>
              <a:rPr>
                <a:latin typeface="Calibri"/>
              </a:rPr>
              <a:t>Messagerie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944368" y="2697480"/>
            <a:ext cx="1591056" cy="0"/>
          </a:xfrm>
          <a:prstGeom prst="line">
            <a:avLst/>
          </a:prstGeom>
          <a:ln w="1524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553712" y="2212848"/>
            <a:ext cx="3584448" cy="1024128"/>
          </a:xfrm>
          <a:prstGeom prst="roundRect">
            <a:avLst>
              <a:gd name="adj" fmla="val 8000"/>
            </a:avLst>
          </a:prstGeom>
          <a:solidFill>
            <a:srgbClr val="151E35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l">
              <a:defRPr sz="1100" b="1">
                <a:solidFill>
                  <a:srgbClr val="F8FAFC"/>
                </a:solidFill>
              </a:defRPr>
            </a:pPr>
            <a:r>
              <a:rPr>
                <a:latin typeface="Calibri"/>
              </a:rPr>
              <a:t>Serveur Socket.IO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94A3B8"/>
                </a:solidFill>
              </a:defRPr>
            </a:pPr>
            <a:r>
              <a:rPr>
                <a:latin typeface="Calibri"/>
              </a:rPr>
              <a:t>rooms · auth JWT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156448" y="2697480"/>
            <a:ext cx="1645920" cy="0"/>
          </a:xfrm>
          <a:prstGeom prst="line">
            <a:avLst/>
          </a:prstGeom>
          <a:ln w="1524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9820656" y="1874519"/>
            <a:ext cx="1874519" cy="1691640"/>
          </a:xfrm>
          <a:prstGeom prst="roundRect">
            <a:avLst>
              <a:gd name="adj" fmla="val 8000"/>
            </a:avLst>
          </a:prstGeom>
          <a:solidFill>
            <a:srgbClr val="151E35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l">
              <a:defRPr sz="1100" b="1">
                <a:solidFill>
                  <a:srgbClr val="F8FAFC"/>
                </a:solidFill>
              </a:defRPr>
            </a:pPr>
            <a:r>
              <a:rPr>
                <a:latin typeface="Calibri"/>
              </a:rPr>
              <a:t>Client B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94A3B8"/>
                </a:solidFill>
              </a:defRPr>
            </a:pPr>
            <a:r>
              <a:rPr>
                <a:latin typeface="Calibri"/>
              </a:rPr>
              <a:t>Présence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56048" y="4041648"/>
            <a:ext cx="3218688" cy="713232"/>
          </a:xfrm>
          <a:prstGeom prst="roundRect">
            <a:avLst>
              <a:gd name="adj" fmla="val 8000"/>
            </a:avLst>
          </a:prstGeom>
          <a:solidFill>
            <a:srgbClr val="151E35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l">
              <a:defRPr sz="1100" b="0">
                <a:solidFill>
                  <a:srgbClr val="F8FAFC"/>
                </a:solidFill>
              </a:defRPr>
            </a:pPr>
            <a:r>
              <a:rPr>
                <a:latin typeface="Calibri"/>
              </a:rPr>
              <a:t>Redis adapter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94A3B8"/>
                </a:solidFill>
              </a:defRPr>
            </a:pPr>
            <a:r>
              <a:rPr>
                <a:latin typeface="Calibri"/>
              </a:rPr>
              <a:t>(multi-instance)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400800" y="3236976"/>
            <a:ext cx="0" cy="804672"/>
          </a:xfrm>
          <a:prstGeom prst="line">
            <a:avLst/>
          </a:prstGeom>
          <a:ln>
            <a:solidFill>
              <a:srgbClr val="94A3B8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58368" y="5074920"/>
            <a:ext cx="109728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94A3B8"/>
                </a:solidFill>
              </a:defRPr>
            </a:pPr>
            <a:r>
              <a:rPr>
                <a:latin typeface="Calibri"/>
              </a:rPr>
              <a:t>Événements typiques : message, typing, notification, géolocalisation ride/livraison (selon modules activés).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960120"/>
            <a:ext cx="5029200" cy="484632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Calibri"/>
              </a:rPr>
              <a:t>Communication temps réel (détail)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97280"/>
            <a:ext cx="1078992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</a:defRPr>
            </a:pPr>
            <a:r>
              <a:rPr>
                <a:latin typeface="Calibri"/>
              </a:rPr>
              <a:t>• Socket.IO pour messagerie instantanée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</a:defRPr>
            </a:pPr>
            <a:r>
              <a:rPr>
                <a:latin typeface="Calibri"/>
              </a:rPr>
              <a:t>• Salons / rooms et présence en ligne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</a:defRPr>
            </a:pPr>
            <a:r>
              <a:rPr>
                <a:latin typeface="Calibri"/>
              </a:rPr>
              <a:t>• Notifications événementielles (social et commerce)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</a:defRPr>
            </a:pPr>
            <a:r>
              <a:rPr>
                <a:latin typeface="Calibri"/>
              </a:rPr>
              <a:t>• Scalabilité : adaptateur Redis quand plusieurs instances backend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960120"/>
            <a:ext cx="5029200" cy="484632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38BDF8"/>
                </a:solidFill>
              </a:defRPr>
            </a:pPr>
            <a:r>
              <a:rPr>
                <a:latin typeface="Calibri"/>
              </a:rPr>
              <a:t>Illustration : flux paiement (vue haut niveau)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98448" y="2011680"/>
            <a:ext cx="2176272" cy="1755648"/>
          </a:xfrm>
          <a:prstGeom prst="roundRect">
            <a:avLst>
              <a:gd name="adj" fmla="val 8000"/>
            </a:avLst>
          </a:prstGeom>
          <a:solidFill>
            <a:srgbClr val="151E35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91440"/>
          <a:lstStyle/>
          <a:p>
            <a:pPr algn="l">
              <a:defRPr sz="1100" b="0">
                <a:solidFill>
                  <a:srgbClr val="F8FAFC"/>
                </a:solidFill>
              </a:defRPr>
            </a:pPr>
            <a:r>
              <a:rPr>
                <a:latin typeface="Calibri"/>
              </a:rPr>
              <a:t>1 — Initiation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94A3B8"/>
                </a:solidFill>
              </a:defRPr>
            </a:pPr>
            <a:r>
              <a:rPr>
                <a:latin typeface="Calibri"/>
              </a:rPr>
              <a:t>POST sécurisé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94A3B8"/>
                </a:solidFill>
              </a:defRPr>
            </a:pPr>
            <a:r>
              <a:rPr>
                <a:latin typeface="Calibri"/>
              </a:rPr>
              <a:t>idempotence · risque/KYC selon périmètre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502152" y="2788920"/>
            <a:ext cx="292608" cy="0"/>
          </a:xfrm>
          <a:prstGeom prst="line">
            <a:avLst/>
          </a:prstGeom>
          <a:ln w="1524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584448" y="2011680"/>
            <a:ext cx="2176272" cy="1755648"/>
          </a:xfrm>
          <a:prstGeom prst="roundRect">
            <a:avLst>
              <a:gd name="adj" fmla="val 8000"/>
            </a:avLst>
          </a:prstGeom>
          <a:solidFill>
            <a:srgbClr val="151E35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91440"/>
          <a:lstStyle/>
          <a:p>
            <a:pPr algn="l">
              <a:defRPr sz="1100" b="0">
                <a:solidFill>
                  <a:srgbClr val="F8FAFC"/>
                </a:solidFill>
              </a:defRPr>
            </a:pPr>
            <a:r>
              <a:rPr>
                <a:latin typeface="Calibri"/>
              </a:rPr>
              <a:t>2 — Provider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94A3B8"/>
                </a:solidFill>
              </a:defRPr>
            </a:pPr>
            <a:r>
              <a:rPr>
                <a:latin typeface="Calibri"/>
              </a:rPr>
              <a:t>Stripe / OM / autres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94A3B8"/>
                </a:solidFill>
              </a:defRPr>
            </a:pPr>
            <a:r>
              <a:rPr>
                <a:latin typeface="Calibri"/>
              </a:rPr>
              <a:t>vérif signatures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788152" y="2788920"/>
            <a:ext cx="292608" cy="0"/>
          </a:xfrm>
          <a:prstGeom prst="line">
            <a:avLst/>
          </a:prstGeom>
          <a:ln w="1524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961888" y="2011680"/>
            <a:ext cx="2176272" cy="1755648"/>
          </a:xfrm>
          <a:prstGeom prst="roundRect">
            <a:avLst>
              <a:gd name="adj" fmla="val 8000"/>
            </a:avLst>
          </a:prstGeom>
          <a:solidFill>
            <a:srgbClr val="151E35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91440"/>
          <a:lstStyle/>
          <a:p>
            <a:pPr algn="l">
              <a:defRPr sz="1100" b="0">
                <a:solidFill>
                  <a:srgbClr val="F8FAFC"/>
                </a:solidFill>
              </a:defRPr>
            </a:pPr>
            <a:r>
              <a:rPr>
                <a:latin typeface="Calibri"/>
              </a:rPr>
              <a:t>3 — Webhook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94A3B8"/>
                </a:solidFill>
              </a:defRPr>
            </a:pPr>
            <a:r>
              <a:rPr>
                <a:latin typeface="Calibri"/>
              </a:rPr>
              <a:t>body brut · secret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94A3B8"/>
                </a:solidFill>
              </a:defRPr>
            </a:pPr>
            <a:r>
              <a:rPr>
                <a:latin typeface="Calibri"/>
              </a:rPr>
              <a:t>replay protection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165592" y="2788920"/>
            <a:ext cx="292608" cy="0"/>
          </a:xfrm>
          <a:prstGeom prst="line">
            <a:avLst/>
          </a:prstGeom>
          <a:ln w="1524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156448" y="2011680"/>
            <a:ext cx="2176272" cy="1755648"/>
          </a:xfrm>
          <a:prstGeom prst="roundRect">
            <a:avLst>
              <a:gd name="adj" fmla="val 8000"/>
            </a:avLst>
          </a:prstGeom>
          <a:solidFill>
            <a:srgbClr val="151E35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91440"/>
          <a:lstStyle/>
          <a:p>
            <a:pPr algn="l">
              <a:defRPr sz="1100" b="0">
                <a:solidFill>
                  <a:srgbClr val="F8FAFC"/>
                </a:solidFill>
              </a:defRPr>
            </a:pPr>
            <a:r>
              <a:rPr>
                <a:latin typeface="Calibri"/>
              </a:rPr>
              <a:t>4 — Confirmation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94A3B8"/>
                </a:solidFill>
              </a:defRPr>
            </a:pPr>
            <a:r>
              <a:rPr>
                <a:latin typeface="Calibri"/>
              </a:rPr>
              <a:t>mise à jour commande /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94A3B8"/>
                </a:solidFill>
              </a:defRPr>
            </a:pPr>
            <a:r>
              <a:rPr>
                <a:latin typeface="Calibri"/>
              </a:rPr>
              <a:t>wallet / abonnements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4800600"/>
            <a:ext cx="1097280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94A3B8"/>
                </a:solidFill>
              </a:defRPr>
            </a:pPr>
            <a:r>
              <a:rPr>
                <a:latin typeface="Calibri"/>
              </a:rPr>
              <a:t>Le projet encode plusieurs passerelles dans `payments.routes` : le jury peut être informé du positionnement régional ET international.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960120"/>
            <a:ext cx="5029200" cy="484632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Calibri"/>
              </a:rPr>
              <a:t>Services de paiement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97280"/>
            <a:ext cx="1078992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</a:defRPr>
            </a:pPr>
            <a:r>
              <a:rPr>
                <a:latin typeface="Calibri"/>
              </a:rPr>
              <a:t>• Passerelles : Stripe + solutions locales (ex. Orange Money, Wave, Moov…) selon périmètre déployé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</a:defRPr>
            </a:pPr>
            <a:r>
              <a:rPr>
                <a:latin typeface="Calibri"/>
              </a:rPr>
              <a:t>• Webhooks avec vérifications (signatures / règles anti-abus)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</a:defRPr>
            </a:pPr>
            <a:r>
              <a:rPr>
                <a:latin typeface="Calibri"/>
              </a:rPr>
              <a:t>• Workflow typique : init → callback/provider → mise à jour commande ou wallet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</a:defRPr>
            </a:pPr>
            <a:r>
              <a:rPr>
                <a:latin typeface="Calibri"/>
              </a:rPr>
              <a:t>• Traçabilité financière : logs d’audit, idempotency sur init sensible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960120"/>
            <a:ext cx="5029200" cy="484632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Calibri"/>
              </a:rPr>
              <a:t>Traduction &amp; intelligence artificielle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97280"/>
            <a:ext cx="1078992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</a:defRPr>
            </a:pPr>
            <a:r>
              <a:rPr>
                <a:latin typeface="Calibri"/>
              </a:rPr>
              <a:t>• Traduction LibreTranslate (+ repli MyMemory selon routes)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</a:defRPr>
            </a:pPr>
            <a:r>
              <a:rPr>
                <a:latin typeface="Calibri"/>
              </a:rPr>
              <a:t>• Chatbots pour assistance contextualisée (données métier)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</a:defRPr>
            </a:pPr>
            <a:r>
              <a:rPr>
                <a:latin typeface="Calibri"/>
              </a:rPr>
              <a:t>• STT / sous-titres : chantier en cours (Whisper/OpenAI ou pipeline interne)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</a:defRPr>
            </a:pPr>
            <a:r>
              <a:rPr>
                <a:latin typeface="Calibri"/>
              </a:rPr>
              <a:t>• Modération assistée par règles + listes de contrôle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960120"/>
            <a:ext cx="5029200" cy="484632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Calibri"/>
              </a:rPr>
              <a:t>Sécurité du système d’information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97280"/>
            <a:ext cx="1078992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</a:defRPr>
            </a:pPr>
            <a:r>
              <a:rPr>
                <a:latin typeface="Calibri"/>
              </a:rPr>
              <a:t>• JWT access + refresh, rotation/blacklist selon implémentation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</a:defRPr>
            </a:pPr>
            <a:r>
              <a:rPr>
                <a:latin typeface="Calibri"/>
              </a:rPr>
              <a:t>• XSS / CSRF : protections middleware + bonnes pratiques cookies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</a:defRPr>
            </a:pPr>
            <a:r>
              <a:rPr>
                <a:latin typeface="Calibri"/>
              </a:rPr>
              <a:t>• Injection SQL : Prisma (requêtes paramétrées)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</a:defRPr>
            </a:pPr>
            <a:r>
              <a:rPr>
                <a:latin typeface="Calibri"/>
              </a:rPr>
              <a:t>• Proxy média anti-SSRF : liste blanche de domaines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</a:defRPr>
            </a:pPr>
            <a:r>
              <a:rPr>
                <a:latin typeface="Calibri"/>
              </a:rPr>
              <a:t>• Secrets : variables d’environnement, pas de credentials en repo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960120"/>
            <a:ext cx="5029200" cy="484632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Calibri"/>
              </a:rPr>
              <a:t>Performance et optimisations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97280"/>
            <a:ext cx="1078992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</a:defRPr>
            </a:pPr>
            <a:r>
              <a:rPr>
                <a:latin typeface="Calibri"/>
              </a:rPr>
              <a:t>• Code splitting et lazy loading côté frontend web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</a:defRPr>
            </a:pPr>
            <a:r>
              <a:rPr>
                <a:latin typeface="Calibri"/>
              </a:rPr>
              <a:t>• Compression HTTP + stratégie de cache Redis côté API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</a:defRPr>
            </a:pPr>
            <a:r>
              <a:rPr>
                <a:latin typeface="Calibri"/>
              </a:rPr>
              <a:t>• Vidéos : streaming par fragments lorsque disponible ; adaptation réseaux lents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</a:defRPr>
            </a:pPr>
            <a:r>
              <a:rPr>
                <a:latin typeface="Calibri"/>
              </a:rPr>
              <a:t>• Observabilité : Sentry + exposition métriques /metrics format Prometheus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960120"/>
            <a:ext cx="5029200" cy="484632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Calibri"/>
              </a:rPr>
              <a:t>Illustration : chaîne DevOps simplifiée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057400"/>
            <a:ext cx="1691640" cy="1325880"/>
          </a:xfrm>
          <a:prstGeom prst="roundRect">
            <a:avLst>
              <a:gd name="adj" fmla="val 8000"/>
            </a:avLst>
          </a:prstGeom>
          <a:solidFill>
            <a:srgbClr val="151E35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l">
              <a:defRPr sz="1150" b="1">
                <a:solidFill>
                  <a:srgbClr val="F8FAFC"/>
                </a:solidFill>
              </a:defRPr>
            </a:pPr>
            <a:r>
              <a:rPr>
                <a:latin typeface="Calibri"/>
              </a:rPr>
              <a:t>Git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06040" y="2057400"/>
            <a:ext cx="1691640" cy="1325880"/>
          </a:xfrm>
          <a:prstGeom prst="roundRect">
            <a:avLst>
              <a:gd name="adj" fmla="val 8000"/>
            </a:avLst>
          </a:prstGeom>
          <a:solidFill>
            <a:srgbClr val="151E35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l">
              <a:defRPr sz="1150" b="1">
                <a:solidFill>
                  <a:srgbClr val="F8FAFC"/>
                </a:solidFill>
              </a:defRPr>
            </a:pPr>
            <a:r>
              <a:rPr>
                <a:latin typeface="Calibri"/>
              </a:rPr>
              <a:t>CI</a:t>
            </a:r>
          </a:p>
          <a:p>
            <a:pPr algn="l">
              <a:spcBef>
                <a:spcPts val="300"/>
              </a:spcBef>
              <a:defRPr sz="1050" b="0">
                <a:solidFill>
                  <a:srgbClr val="94A3B8"/>
                </a:solidFill>
              </a:defRPr>
            </a:pPr>
            <a:r>
              <a:rPr>
                <a:latin typeface="Calibri"/>
              </a:rPr>
              <a:t>GitHub Actions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325112" y="2697480"/>
            <a:ext cx="173736" cy="0"/>
          </a:xfrm>
          <a:prstGeom prst="line">
            <a:avLst/>
          </a:prstGeom>
          <a:ln w="1524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681728" y="2057400"/>
            <a:ext cx="1691640" cy="1325880"/>
          </a:xfrm>
          <a:prstGeom prst="roundRect">
            <a:avLst>
              <a:gd name="adj" fmla="val 8000"/>
            </a:avLst>
          </a:prstGeom>
          <a:solidFill>
            <a:srgbClr val="151E35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l">
              <a:defRPr sz="1150" b="1">
                <a:solidFill>
                  <a:srgbClr val="F8FAFC"/>
                </a:solidFill>
              </a:defRPr>
            </a:pPr>
            <a:r>
              <a:rPr>
                <a:latin typeface="Calibri"/>
              </a:rPr>
              <a:t>Build / tests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400800" y="2697480"/>
            <a:ext cx="228600" cy="0"/>
          </a:xfrm>
          <a:prstGeom prst="line">
            <a:avLst/>
          </a:prstGeom>
          <a:ln w="1524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812280" y="2057400"/>
            <a:ext cx="1691640" cy="1325880"/>
          </a:xfrm>
          <a:prstGeom prst="roundRect">
            <a:avLst>
              <a:gd name="adj" fmla="val 8000"/>
            </a:avLst>
          </a:prstGeom>
          <a:solidFill>
            <a:srgbClr val="151E35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l">
              <a:defRPr sz="1150" b="1">
                <a:solidFill>
                  <a:srgbClr val="F8FAFC"/>
                </a:solidFill>
              </a:defRPr>
            </a:pPr>
            <a:r>
              <a:rPr>
                <a:latin typeface="Calibri"/>
              </a:rPr>
              <a:t>Docker Compose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531352" y="2697480"/>
            <a:ext cx="292608" cy="0"/>
          </a:xfrm>
          <a:prstGeom prst="line">
            <a:avLst/>
          </a:prstGeom>
          <a:ln w="1524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006840" y="2057400"/>
            <a:ext cx="1691640" cy="1325880"/>
          </a:xfrm>
          <a:prstGeom prst="roundRect">
            <a:avLst>
              <a:gd name="adj" fmla="val 8000"/>
            </a:avLst>
          </a:prstGeom>
          <a:solidFill>
            <a:srgbClr val="151E35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l">
              <a:defRPr sz="1150" b="1">
                <a:solidFill>
                  <a:srgbClr val="F8FAFC"/>
                </a:solidFill>
              </a:defRPr>
            </a:pPr>
            <a:r>
              <a:rPr>
                <a:latin typeface="Calibri"/>
              </a:rPr>
              <a:t>Nginx TLS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70432" y="3794760"/>
            <a:ext cx="2331720" cy="713232"/>
          </a:xfrm>
          <a:prstGeom prst="roundRect">
            <a:avLst>
              <a:gd name="adj" fmla="val 8000"/>
            </a:avLst>
          </a:prstGeom>
          <a:solidFill>
            <a:srgbClr val="151E35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l">
              <a:defRPr sz="1100" b="1">
                <a:solidFill>
                  <a:srgbClr val="F8FAFC"/>
                </a:solidFill>
              </a:defRPr>
            </a:pPr>
            <a:r>
              <a:rPr>
                <a:latin typeface="Calibri"/>
              </a:rPr>
              <a:t>3× backend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94A3B8"/>
                </a:solidFill>
              </a:defRPr>
            </a:pPr>
            <a:r>
              <a:rPr>
                <a:latin typeface="Calibri"/>
              </a:rPr>
              <a:t>(haute dispo — compose)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86200" y="3794760"/>
            <a:ext cx="2057400" cy="713232"/>
          </a:xfrm>
          <a:prstGeom prst="roundRect">
            <a:avLst>
              <a:gd name="adj" fmla="val 8000"/>
            </a:avLst>
          </a:prstGeom>
          <a:solidFill>
            <a:srgbClr val="151E35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l">
              <a:defRPr sz="1100" b="1">
                <a:solidFill>
                  <a:srgbClr val="F8FAFC"/>
                </a:solidFill>
              </a:defRPr>
            </a:pPr>
            <a:r>
              <a:rPr>
                <a:latin typeface="Calibri"/>
              </a:rPr>
              <a:t>Postgres 15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794760"/>
            <a:ext cx="1993392" cy="713232"/>
          </a:xfrm>
          <a:prstGeom prst="roundRect">
            <a:avLst>
              <a:gd name="adj" fmla="val 8000"/>
            </a:avLst>
          </a:prstGeom>
          <a:solidFill>
            <a:srgbClr val="151E35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l">
              <a:defRPr sz="1100" b="1">
                <a:solidFill>
                  <a:srgbClr val="F8FAFC"/>
                </a:solidFill>
              </a:defRPr>
            </a:pPr>
            <a:r>
              <a:rPr>
                <a:latin typeface="Calibri"/>
              </a:rPr>
              <a:t>Redis 7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02752" y="3794760"/>
            <a:ext cx="2816352" cy="713232"/>
          </a:xfrm>
          <a:prstGeom prst="roundRect">
            <a:avLst>
              <a:gd name="adj" fmla="val 8000"/>
            </a:avLst>
          </a:prstGeom>
          <a:solidFill>
            <a:srgbClr val="151E35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l">
              <a:defRPr sz="1100" b="1">
                <a:solidFill>
                  <a:srgbClr val="F8FAFC"/>
                </a:solidFill>
              </a:defRPr>
            </a:pPr>
            <a:r>
              <a:rPr>
                <a:latin typeface="Calibri"/>
              </a:rPr>
              <a:t>Certbot TLS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960120"/>
            <a:ext cx="5029200" cy="484632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Calibri"/>
              </a:rPr>
              <a:t>Stratégie DevOps et déploiement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97280"/>
            <a:ext cx="1078992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</a:defRPr>
            </a:pPr>
            <a:r>
              <a:rPr>
                <a:latin typeface="Calibri"/>
              </a:rPr>
              <a:t>• Docker + Docker Compose pour reproductibilité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</a:defRPr>
            </a:pPr>
            <a:r>
              <a:rPr>
                <a:latin typeface="Calibri"/>
              </a:rPr>
              <a:t>• Haute disponibilité : plusieurs réplicas backend (fichiers compose)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</a:defRPr>
            </a:pPr>
            <a:r>
              <a:rPr>
                <a:latin typeface="Calibri"/>
              </a:rPr>
              <a:t>• Nginx reverse proxy + TLS (Let’s Encrypt / Certbot)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</a:defRPr>
            </a:pPr>
            <a:r>
              <a:rPr>
                <a:latin typeface="Calibri"/>
              </a:rPr>
              <a:t>• PostgreSQL 15 et Redis 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960120"/>
            <a:ext cx="5029200" cy="484632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Calibri"/>
              </a:rPr>
              <a:t>Automatisation et qualité (CI/CD)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97280"/>
            <a:ext cx="1078992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</a:defRPr>
            </a:pPr>
            <a:r>
              <a:rPr>
                <a:latin typeface="Calibri"/>
              </a:rPr>
              <a:t>• GitHub Actions : intégration continue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</a:defRPr>
            </a:pPr>
            <a:r>
              <a:rPr>
                <a:latin typeface="Calibri"/>
              </a:rPr>
              <a:t>• Contrôles automatiques lint + typecheck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</a:defRPr>
            </a:pPr>
            <a:r>
              <a:rPr>
                <a:latin typeface="Calibri"/>
              </a:rPr>
              <a:t>• Tests backend (Jest) et frontend (Vitest) + sélection E2E Playwright sur le repo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</a:defRPr>
            </a:pPr>
            <a:r>
              <a:rPr>
                <a:latin typeface="Calibri"/>
              </a:rPr>
              <a:t>• Contraintes de taille de PR pour garder une review efficace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960120"/>
            <a:ext cx="5029200" cy="484632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Calibri"/>
              </a:rPr>
              <a:t>Périmètre livré vs feuille de route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97280"/>
            <a:ext cx="1078992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</a:defRPr>
            </a:pPr>
            <a:r>
              <a:rPr>
                <a:latin typeface="Calibri"/>
              </a:rPr>
              <a:t>• Livré : socle Super-App, API riche, clients web/mobile, temps réel, observabilité, CI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</a:defRPr>
            </a:pPr>
            <a:r>
              <a:rPr>
                <a:latin typeface="Calibri"/>
              </a:rPr>
              <a:t>• Partiel / variable selon configuration : IA vocale/STT bout-en-bout production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</a:defRPr>
            </a:pPr>
            <a:r>
              <a:rPr>
                <a:latin typeface="Calibri"/>
              </a:rPr>
              <a:t>• Roadmap courte : modularisation, charge, feature flags pilotés produit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960120"/>
            <a:ext cx="5029200" cy="484632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Calibri"/>
              </a:rPr>
              <a:t>Preuves techniques (vérifiables dans le dépôt)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97280"/>
            <a:ext cx="1078992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</a:defRPr>
            </a:pPr>
            <a:r>
              <a:rPr>
                <a:latin typeface="Calibri"/>
              </a:rPr>
              <a:t>• Schéma Prisma : environ 100 modèles PostgreSQL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</a:defRPr>
            </a:pPr>
            <a:r>
              <a:rPr>
                <a:latin typeface="Calibri"/>
              </a:rPr>
              <a:t>• Socket.IO + adaptateur Redis optionnel pour multi-instance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</a:defRPr>
            </a:pPr>
            <a:r>
              <a:rPr>
                <a:latin typeface="Calibri"/>
              </a:rPr>
              <a:t>• Endpoints de santé/métriques et intégration Sentry backend/mobile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</a:defRPr>
            </a:pPr>
            <a:r>
              <a:rPr>
                <a:latin typeface="Calibri"/>
              </a:rPr>
              <a:t>• Nombre important de routes domaine + tests automatisés en CI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960120"/>
            <a:ext cx="5029200" cy="484632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8BDF8"/>
                </a:solidFill>
              </a:defRPr>
            </a:pPr>
            <a:r>
              <a:rPr>
                <a:latin typeface="Calibri"/>
              </a:rPr>
              <a:t>Captures d’écran — partie 1 / 2 (Web &amp; modules)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32688"/>
            <a:ext cx="1097280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94A3B8"/>
                </a:solidFill>
              </a:defRPr>
            </a:pPr>
            <a:r>
              <a:rPr>
                <a:latin typeface="Calibri"/>
              </a:rPr>
              <a:t>Visuels issus du dépôt lorsqu’ils existent (dossier public/). Complétez Wallet, Messagerie et Admin avec vos captures réelles (Win+Shift+S ou outil téléphone).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755648"/>
            <a:ext cx="359450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38BDF8"/>
                </a:solidFill>
              </a:defRPr>
            </a:pPr>
            <a:r>
              <a:rPr>
                <a:latin typeface="Calibri"/>
              </a:rPr>
              <a:t>Page d’accueil / Landing</a:t>
            </a:r>
          </a:p>
        </p:txBody>
      </p:sp>
      <p:pic>
        <p:nvPicPr>
          <p:cNvPr id="6" name="Picture 5" descr="og-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84832"/>
            <a:ext cx="2212848" cy="22128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298594" y="1755648"/>
            <a:ext cx="359450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38BDF8"/>
                </a:solidFill>
              </a:defRPr>
            </a:pPr>
            <a:r>
              <a:rPr>
                <a:latin typeface="Calibri"/>
              </a:rPr>
              <a:t>Feed vidéo</a:t>
            </a:r>
          </a:p>
        </p:txBody>
      </p:sp>
      <p:pic>
        <p:nvPicPr>
          <p:cNvPr id="8" name="Picture 7" descr="landing-feed-u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8594" y="2084832"/>
            <a:ext cx="3594506" cy="20062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094268" y="1755648"/>
            <a:ext cx="359450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38BDF8"/>
                </a:solidFill>
              </a:defRPr>
            </a:pPr>
            <a:r>
              <a:rPr>
                <a:latin typeface="Calibri"/>
              </a:rPr>
              <a:t>Marketplace</a:t>
            </a:r>
          </a:p>
        </p:txBody>
      </p:sp>
      <p:pic>
        <p:nvPicPr>
          <p:cNvPr id="10" name="Picture 9" descr="landing-market-u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4268" y="2084832"/>
            <a:ext cx="3594506" cy="200623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" y="4773168"/>
            <a:ext cx="359450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38BDF8"/>
                </a:solidFill>
              </a:defRPr>
            </a:pPr>
            <a:r>
              <a:rPr>
                <a:latin typeface="Calibri"/>
              </a:rPr>
              <a:t>Wallet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5102352"/>
            <a:ext cx="3594506" cy="2212848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 w="15875">
            <a:solidFill>
              <a:srgbClr val="38BDF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rPr>
                <a:latin typeface="Calibri"/>
              </a:rPr>
              <a:t>À insérer</a:t>
            </a:r>
            <a:br/>
            <a:r>
              <a:t>capture</a:t>
            </a:r>
            <a:br/>
            <a:br/>
            <a:r>
              <a:t>Wallet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8594" y="4773168"/>
            <a:ext cx="359450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38BDF8"/>
                </a:solidFill>
              </a:defRPr>
            </a:pPr>
            <a:r>
              <a:rPr>
                <a:latin typeface="Calibri"/>
              </a:rPr>
              <a:t>Messagerie (AfriChat)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8594" y="5102352"/>
            <a:ext cx="3594506" cy="2212848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 w="15875">
            <a:solidFill>
              <a:srgbClr val="38BDF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rPr>
                <a:latin typeface="Calibri"/>
              </a:rPr>
              <a:t>À insérer</a:t>
            </a:r>
            <a:br/>
            <a:r>
              <a:t>capture</a:t>
            </a:r>
            <a:br/>
            <a:br/>
            <a:r>
              <a:t>Messagerie (AfriChat)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4268" y="4773168"/>
            <a:ext cx="359450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38BDF8"/>
                </a:solidFill>
              </a:defRPr>
            </a:pPr>
            <a:r>
              <a:rPr>
                <a:latin typeface="Calibri"/>
              </a:rPr>
              <a:t>Panneau administrateur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4268" y="5102352"/>
            <a:ext cx="3594506" cy="2212848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 w="15875">
            <a:solidFill>
              <a:srgbClr val="38BDF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rPr>
                <a:latin typeface="Calibri"/>
              </a:rPr>
              <a:t>À insérer</a:t>
            </a:r>
            <a:br/>
            <a:r>
              <a:t>capture</a:t>
            </a:r>
            <a:br/>
            <a:br/>
            <a:r>
              <a:t>Panneau administrateur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960120"/>
            <a:ext cx="5029200" cy="484632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8BDF8"/>
                </a:solidFill>
              </a:defRPr>
            </a:pPr>
            <a:r>
              <a:rPr>
                <a:latin typeface="Calibri"/>
              </a:rPr>
              <a:t>Captures d’écran — partie 2 / 2 (Application mobile Expo)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rPr>
                <a:latin typeface="Calibri"/>
              </a:rPr>
              <a:t>Application mobile (Expo) — feed, création vidéo, notifications, etc.</a:t>
            </a:r>
          </a:p>
        </p:txBody>
      </p:sp>
      <p:pic>
        <p:nvPicPr>
          <p:cNvPr id="5" name="Picture 4" descr="app-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1536192"/>
            <a:ext cx="2368559" cy="51389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5989320"/>
            <a:ext cx="10972800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4A3B8"/>
                </a:solidFill>
              </a:defRPr>
            </a:pPr>
            <a:r>
              <a:rPr>
                <a:latin typeface="Calibri"/>
              </a:rPr>
              <a:t>Conseil : insérez ici une capture du flux principal sur émulateur ou appareil (barre de statut visible, version lisible).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960120"/>
            <a:ext cx="5029200" cy="484632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Calibri"/>
              </a:rPr>
              <a:t>Défis techniques &amp; 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97280"/>
            <a:ext cx="1078992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</a:defRPr>
            </a:pPr>
            <a:r>
              <a:rPr>
                <a:latin typeface="Calibri"/>
              </a:rPr>
              <a:t>• Complexité du schéma Prisma massif → conventions, migrations, modularisation progressive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</a:defRPr>
            </a:pPr>
            <a:r>
              <a:rPr>
                <a:latin typeface="Calibri"/>
              </a:rPr>
              <a:t>• Lecture vidéo sur réseaux instables → politiques buffer, qualités adaptatives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</a:defRPr>
            </a:pPr>
            <a:r>
              <a:rPr>
                <a:latin typeface="Calibri"/>
              </a:rPr>
              <a:t>• Cohérence auth PWA/mobile → même contrat JWT, refresh, stockage mobile sécurisé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</a:defRPr>
            </a:pPr>
            <a:r>
              <a:rPr>
                <a:latin typeface="Calibri"/>
              </a:rPr>
              <a:t>• Proxy média SSRF potentiel → liste blanche stricte &amp; revues sécurité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960120"/>
            <a:ext cx="5029200" cy="484632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Calibri"/>
              </a:rPr>
              <a:t>Limites actuelles assumées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97280"/>
            <a:ext cx="1078992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</a:defRPr>
            </a:pPr>
            <a:r>
              <a:rPr>
                <a:latin typeface="Calibri"/>
              </a:rPr>
              <a:t>• Monolithe encore dominant (scalabilité verticalisée puis découpage progressif)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</a:defRPr>
            </a:pPr>
            <a:r>
              <a:rPr>
                <a:latin typeface="Calibri"/>
              </a:rPr>
              <a:t>• Dépendance à fournisseurs IA/traduction pour certains SLA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</a:defRPr>
            </a:pPr>
            <a:r>
              <a:rPr>
                <a:latin typeface="Calibri"/>
              </a:rPr>
              <a:t>• STT/Speech-to-text : placeholders ou finalisation environnement-specific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</a:defRPr>
            </a:pPr>
            <a:r>
              <a:rPr>
                <a:latin typeface="Calibri"/>
              </a:rPr>
              <a:t>• Schéma DB dense : courbe d’apprentissage pour nouvelles équipes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960120"/>
            <a:ext cx="5029200" cy="484632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Calibri"/>
              </a:rPr>
              <a:t>Améliorations futures et évolutions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97280"/>
            <a:ext cx="1078992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</a:defRPr>
            </a:pPr>
            <a:r>
              <a:rPr>
                <a:latin typeface="Calibri"/>
              </a:rPr>
              <a:t>• Microservices ou services autonomes pour domaines critiques (paiements, médias)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</a:defRPr>
            </a:pPr>
            <a:r>
              <a:rPr>
                <a:latin typeface="Calibri"/>
              </a:rPr>
              <a:t>• IA/STT/NLP finalisées et autosuffisantes quand données &amp; consentement permettent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</a:defRPr>
            </a:pPr>
            <a:r>
              <a:rPr>
                <a:latin typeface="Calibri"/>
              </a:rPr>
              <a:t>• Tests de montée en charge industriels au-delà des scripts projet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</a:defRPr>
            </a:pPr>
            <a:r>
              <a:rPr>
                <a:latin typeface="Calibri"/>
              </a:rPr>
              <a:t>• Feature flags pour déploiement progressif sans casser les clients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960120"/>
            <a:ext cx="5029200" cy="484632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Calibri"/>
              </a:rPr>
              <a:t>Compétences acquises &amp; bilan personnel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97280"/>
            <a:ext cx="1078992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</a:defRPr>
            </a:pPr>
            <a:r>
              <a:rPr>
                <a:latin typeface="Calibri"/>
              </a:rPr>
              <a:t>• Cycle de vie full-stack réel : conception → implémentation → tests → exploitation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</a:defRPr>
            </a:pPr>
            <a:r>
              <a:rPr>
                <a:latin typeface="Calibri"/>
              </a:rPr>
              <a:t>• Gouvernance SI : données, sécurité, conformité fonctionnelle (angle MGSI)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</a:defRPr>
            </a:pPr>
            <a:r>
              <a:rPr>
                <a:latin typeface="Calibri"/>
              </a:rPr>
              <a:t>• Architectures évolutives : résilience réseaux pauvres, supervision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</a:defRPr>
            </a:pPr>
            <a:r>
              <a:rPr>
                <a:latin typeface="Calibri"/>
              </a:rPr>
              <a:t>• Culture qualité industrielle : PR, automatisation CI, documentation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960120"/>
            <a:ext cx="5029200" cy="484632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</a:defRPr>
            </a:pPr>
            <a:r>
              <a:rPr>
                <a:latin typeface="Calibri"/>
              </a:rPr>
              <a:t>Conclusion générale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97280"/>
            <a:ext cx="1078992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</a:defRPr>
            </a:pPr>
            <a:r>
              <a:rPr>
                <a:latin typeface="Calibri"/>
              </a:rPr>
              <a:t>• Réponse techno concrète au marché africain (fragmentation vs plateforme unifiée)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</a:defRPr>
            </a:pPr>
            <a:r>
              <a:rPr>
                <a:latin typeface="Calibri"/>
              </a:rPr>
              <a:t>• Projet complet : innovation UX + rigueur ingénierie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</a:defRPr>
            </a:pPr>
            <a:r>
              <a:rPr>
                <a:latin typeface="Calibri"/>
              </a:rPr>
              <a:t>• Validation académique des compétences MGSI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</a:defRPr>
            </a:pPr>
            <a:r>
              <a:rPr>
                <a:latin typeface="Calibri"/>
              </a:rPr>
              <a:t>• Ouverture : industrialisation progressive et mesure terrain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566160" y="960120"/>
            <a:ext cx="5029200" cy="4846320"/>
          </a:xfrm>
          <a:prstGeom prst="ellipse">
            <a:avLst/>
          </a:prstGeom>
          <a:solidFill>
            <a:srgbClr val="0E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4028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</a:defRPr>
            </a:pPr>
            <a:r>
              <a:rPr>
                <a:latin typeface="Calibri"/>
              </a:rPr>
              <a:t>Merci de votre attention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3063240"/>
            <a:ext cx="105887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0">
                <a:solidFill>
                  <a:srgbClr val="38BDF8"/>
                </a:solidFill>
              </a:defRPr>
            </a:pPr>
            <a:r>
              <a:rPr>
                <a:latin typeface="Calibri"/>
              </a:rPr>
              <a:t>Questions ?</a:t>
            </a:r>
          </a:p>
          <a:p>
            <a:pPr algn="ctr">
              <a:spcBef>
                <a:spcPts val="1800"/>
              </a:spcBef>
              <a:defRPr sz="1300">
                <a:solidFill>
                  <a:srgbClr val="94A3B8"/>
                </a:solidFill>
              </a:defRPr>
            </a:pPr>
            <a:r>
              <a:rPr>
                <a:latin typeface="Calibri"/>
              </a:rPr>
              <a:t>AfriWonder · Super-App régionale · PWA · Mobile Expo · Backend Express · PostgreSQL · Sécurité &amp; observabilité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