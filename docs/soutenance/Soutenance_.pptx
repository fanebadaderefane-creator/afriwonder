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02240"/>
                </a:solidFill>
              </a:defRPr>
            </a:pPr>
            <a:r>
              <a:t>Soutenance de Projet : AfriWonder Super-App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Projet AfriWonder — Écosystème numérique multi-services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Candidat : FANE ABDOULAYE (Élève Ingénieur)</a:t>
            </a:r>
          </a:p>
          <a:p>
            <a:pPr>
              <a:defRPr sz="1800"/>
            </a:pPr>
            <a:r>
              <a:t>Encadrant : Pr. HAMZA KHALFI</a:t>
            </a:r>
          </a:p>
          <a:p>
            <a:pPr>
              <a:defRPr sz="1800"/>
            </a:pPr>
            <a:r>
              <a:t>Filière : Management et Gouvernance des Systèmes d’Information (MGSI)</a:t>
            </a:r>
          </a:p>
          <a:p>
            <a:pPr>
              <a:defRPr sz="1800"/>
            </a:pPr>
            <a:r>
              <a:t>Établissement : École Nationale des Sciences Appliquées de Khouribga (ENSAK)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Architecture | Gouvernance SI | Performance | Sécurité | Industrialisation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Sommaire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Introduction et Contexte du Projet</a:t>
            </a:r>
          </a:p>
          <a:p>
            <a:pPr>
              <a:defRPr sz="2000"/>
            </a:pPr>
            <a:r>
              <a:t>Analyse Fonctionnelle et Métiers</a:t>
            </a:r>
          </a:p>
          <a:p>
            <a:pPr>
              <a:defRPr sz="2000"/>
            </a:pPr>
            <a:r>
              <a:t>Architecture Système et Stack Technologique</a:t>
            </a:r>
          </a:p>
          <a:p>
            <a:pPr>
              <a:defRPr sz="2000"/>
            </a:pPr>
            <a:r>
              <a:t>Conception de la Base de Données</a:t>
            </a:r>
          </a:p>
          <a:p>
            <a:pPr>
              <a:defRPr sz="2000"/>
            </a:pPr>
            <a:r>
              <a:t>Développement Mobile et PWA</a:t>
            </a:r>
          </a:p>
          <a:p>
            <a:pPr>
              <a:defRPr sz="2000"/>
            </a:pPr>
            <a:r>
              <a:t>Sécurité, Performance et DevOps</a:t>
            </a:r>
          </a:p>
          <a:p>
            <a:pPr>
              <a:defRPr sz="2000"/>
            </a:pPr>
            <a:r>
              <a:t>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au Projet AfriWonder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Genèse du projet : Répondre aux défis de la fragmentation numérique en Afrique</a:t>
            </a:r>
          </a:p>
          <a:p>
            <a:pPr>
              <a:defRPr sz="2000"/>
            </a:pPr>
            <a:r>
              <a:t>Vision : Créer une "Super-App" unifiée (Social, Commerce, Finance, Services)</a:t>
            </a:r>
          </a:p>
          <a:p>
            <a:pPr>
              <a:defRPr sz="2000"/>
            </a:pPr>
            <a:r>
              <a:t>Ambition : Centraliser l'expérience utilisateur dans un écosystème régional cohérent</a:t>
            </a:r>
          </a:p>
          <a:p>
            <a:pPr>
              <a:defRPr sz="2000"/>
            </a:pPr>
            <a:r>
              <a:t>Valeur ajoutée : Accessibilité, monétisation locale et services de proximité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5303520"/>
            <a:ext cx="4480560" cy="1097280"/>
          </a:xfrm>
          <a:prstGeom prst="roundRect">
            <a:avLst/>
          </a:prstGeom>
          <a:solidFill>
            <a:srgbClr val="E8F0FF"/>
          </a:solidFill>
          <a:ln>
            <a:solidFill>
              <a:srgbClr val="64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142850"/>
                </a:solidFill>
              </a:defRPr>
            </a:pPr>
            <a:r>
              <a:t>Illustration suggérée : carte du parcours utilisateur unifié.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 et Enjeux Stratégiques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Fragmentation des services mobiles en Afrique</a:t>
            </a:r>
          </a:p>
          <a:p>
            <a:pPr>
              <a:defRPr sz="2000"/>
            </a:pPr>
            <a:r>
              <a:t>Difficultés d'accès aux infrastructures de paiement internationales</a:t>
            </a:r>
          </a:p>
          <a:p>
            <a:pPr>
              <a:defRPr sz="2000"/>
            </a:pPr>
            <a:r>
              <a:t>Contraintes de connectivité et de performance des terminaux</a:t>
            </a:r>
          </a:p>
          <a:p>
            <a:pPr>
              <a:defRPr sz="2000"/>
            </a:pPr>
            <a:r>
              <a:t>Nécessité d'une gouvernance centralisée des données (MGSI)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Besoins Fonctionnels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Modules principaux : Feed vidéo, Marketplace, Messagerie temps réel</a:t>
            </a:r>
          </a:p>
          <a:p>
            <a:pPr>
              <a:defRPr sz="2000"/>
            </a:pPr>
            <a:r>
              <a:t>Services intégrés : Wallet financier, Gestion de transports, Santé, Tontines</a:t>
            </a:r>
          </a:p>
          <a:p>
            <a:pPr>
              <a:defRPr sz="2000"/>
            </a:pPr>
            <a:r>
              <a:t>Gestion des profils : Créateurs, Vendeurs, Prestataires, Administrateurs</a:t>
            </a:r>
          </a:p>
          <a:p>
            <a:pPr>
              <a:defRPr sz="2000"/>
            </a:pPr>
            <a:r>
              <a:t>Fonctions transverses : Traduction, Chatbots, Notifications push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5303520"/>
            <a:ext cx="4480560" cy="1097280"/>
          </a:xfrm>
          <a:prstGeom prst="roundRect">
            <a:avLst/>
          </a:prstGeom>
          <a:solidFill>
            <a:srgbClr val="E8F0FF"/>
          </a:solidFill>
          <a:ln>
            <a:solidFill>
              <a:srgbClr val="64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142850"/>
                </a:solidFill>
              </a:defRPr>
            </a:pPr>
            <a:r>
              <a:t>Détail : couvre social, commerce et services transactionnels.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Cartographie des Cas d’Utilisation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Publication et interaction avec le contenu vidéo (Social)</a:t>
            </a:r>
          </a:p>
          <a:p>
            <a:pPr>
              <a:defRPr sz="2000"/>
            </a:pPr>
            <a:r>
              <a:t>Cycle de vente complet : de l'annonce au paiement sécurisé (Marketplace)</a:t>
            </a:r>
          </a:p>
          <a:p>
            <a:pPr>
              <a:defRPr sz="2000"/>
            </a:pPr>
            <a:r>
              <a:t>Gestion de portefeuille et transactions financières (Wallet)</a:t>
            </a:r>
          </a:p>
          <a:p>
            <a:pPr>
              <a:defRPr sz="2000"/>
            </a:pPr>
            <a:r>
              <a:t>Modération et administration globale de la plateforme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Logique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Modèle Client-Serveur distribué</a:t>
            </a:r>
          </a:p>
          <a:p>
            <a:pPr>
              <a:defRPr sz="2000"/>
            </a:pPr>
            <a:r>
              <a:t>Communication via API REST sécurisée et WebSockets</a:t>
            </a:r>
          </a:p>
          <a:p>
            <a:pPr>
              <a:defRPr sz="2000"/>
            </a:pPr>
            <a:r>
              <a:t>Découpage modulaire : Séparation des domaines métier au sein du backend</a:t>
            </a:r>
          </a:p>
          <a:p>
            <a:pPr>
              <a:defRPr sz="2000"/>
            </a:pPr>
            <a:r>
              <a:t>Architecture en couches : Routes, Services, Accès aux données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Logique du Système (Illustration)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468880" cy="914400"/>
          </a:xfrm>
          <a:prstGeom prst="roundRect">
            <a:avLst/>
          </a:prstGeom>
          <a:solidFill>
            <a:srgbClr val="4169E1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PWA React/Vite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468880" cy="914400"/>
          </a:xfrm>
          <a:prstGeom prst="roundRect">
            <a:avLst/>
          </a:prstGeom>
          <a:solidFill>
            <a:srgbClr val="4169E1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Mobile Expo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2560320" cy="1097280"/>
          </a:xfrm>
          <a:prstGeom prst="roundRect">
            <a:avLst/>
          </a:prstGeom>
          <a:solidFill>
            <a:srgbClr val="00808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API Express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(TypeScript)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280160"/>
            <a:ext cx="2286000" cy="914400"/>
          </a:xfrm>
          <a:prstGeom prst="roundRect">
            <a:avLst/>
          </a:prstGeom>
          <a:solidFill>
            <a:srgbClr val="7B3F0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Prisma 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280160"/>
            <a:ext cx="2103120" cy="914400"/>
          </a:xfrm>
          <a:prstGeom prst="roundRect">
            <a:avLst/>
          </a:prstGeom>
          <a:solidFill>
            <a:srgbClr val="2F4F4F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743200"/>
            <a:ext cx="2286000" cy="914400"/>
          </a:xfrm>
          <a:prstGeom prst="roundRect">
            <a:avLst/>
          </a:prstGeom>
          <a:solidFill>
            <a:srgbClr val="B2222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Redis / 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0"/>
            <a:ext cx="2103120" cy="914400"/>
          </a:xfrm>
          <a:prstGeom prst="roundRect">
            <a:avLst/>
          </a:prstGeom>
          <a:solidFill>
            <a:srgbClr val="B2222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S3/R2 Media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91640"/>
            <a:ext cx="731520" cy="7315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3154680"/>
            <a:ext cx="731520" cy="7315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514600"/>
            <a:ext cx="822960" cy="7315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0" y="1691640"/>
            <a:ext cx="274320" cy="7315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063240"/>
            <a:ext cx="822960" cy="7315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0" y="3063240"/>
            <a:ext cx="274320" cy="7315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Séparation en couches : Client -&gt; API -&gt; Services -&gt; Données.</a:t>
            </a:r>
          </a:p>
          <a:p>
            <a:pPr>
              <a:defRPr sz="1600"/>
            </a:pPr>
            <a:r>
              <a:t>Flux temps réel via Socket.IO + Redis adapter (multi-instance).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Technologique : Le Choix de l'Efficacité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Langage unique : TypeScript pour le Frontend et le Backend</a:t>
            </a:r>
          </a:p>
          <a:p>
            <a:pPr>
              <a:defRPr sz="2000"/>
            </a:pPr>
            <a:r>
              <a:t>Backend : Node.js avec le framework Express</a:t>
            </a:r>
          </a:p>
          <a:p>
            <a:pPr>
              <a:defRPr sz="2000"/>
            </a:pPr>
            <a:r>
              <a:t>Frontend Web : React 18 avec l'outil de build Vite</a:t>
            </a:r>
          </a:p>
          <a:p>
            <a:pPr>
              <a:defRPr sz="2000"/>
            </a:pPr>
            <a:r>
              <a:t>Mobile : React Native via le framework Expo (SDK 54+)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Backend et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Gestion des routes structurée par domaine métier</a:t>
            </a:r>
          </a:p>
          <a:p>
            <a:pPr>
              <a:defRPr sz="2000"/>
            </a:pPr>
            <a:r>
              <a:t>Validation rigoureuse des données avec la bibliothèque Zod</a:t>
            </a:r>
          </a:p>
          <a:p>
            <a:pPr>
              <a:defRPr sz="2000"/>
            </a:pPr>
            <a:r>
              <a:t>Middleware de protection : Auth JWT, Rate Limiting, Helmet, CORS</a:t>
            </a:r>
          </a:p>
          <a:p>
            <a:pPr>
              <a:defRPr sz="2000"/>
            </a:pPr>
            <a:r>
              <a:t>Gestion des fichiers et médias avec Multer et Sharp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5303520"/>
            <a:ext cx="4480560" cy="1097280"/>
          </a:xfrm>
          <a:prstGeom prst="roundRect">
            <a:avLst/>
          </a:prstGeom>
          <a:solidFill>
            <a:srgbClr val="E8F0FF"/>
          </a:solidFill>
          <a:ln>
            <a:solidFill>
              <a:srgbClr val="64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142850"/>
                </a:solidFill>
              </a:defRPr>
            </a:pPr>
            <a:r>
              <a:t>Explication : architecture orientée modules pour maintenir un périmètre large.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des Données avec Prisma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Utilisation de Prisma ORM pour une productivité accrue</a:t>
            </a:r>
          </a:p>
          <a:p>
            <a:pPr>
              <a:defRPr sz="2000"/>
            </a:pPr>
            <a:r>
              <a:t>Schéma relationnel PostgreSQL robuste (plus de 100 modèles)</a:t>
            </a:r>
          </a:p>
          <a:p>
            <a:pPr>
              <a:defRPr sz="2000"/>
            </a:pPr>
            <a:r>
              <a:t>Gestion des migrations automatisée et typage fort des entités</a:t>
            </a:r>
          </a:p>
          <a:p>
            <a:pPr>
              <a:defRPr sz="2000"/>
            </a:pPr>
            <a:r>
              <a:t>Optimisation des requêtes pour un volume de données massif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du Schéma de 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L'entité User : Hub central reliant Vidéos, Wallet et Commandes</a:t>
            </a:r>
          </a:p>
          <a:p>
            <a:pPr>
              <a:defRPr sz="2000"/>
            </a:pPr>
            <a:r>
              <a:t>Modélisation de la Marketplace : Produits, Catégories, Paniers et État des stocks</a:t>
            </a:r>
          </a:p>
          <a:p>
            <a:pPr>
              <a:defRPr sz="2000"/>
            </a:pPr>
            <a:r>
              <a:t>Système de Wallet : Transactions, Soldes et Historique financier</a:t>
            </a:r>
          </a:p>
          <a:p>
            <a:pPr>
              <a:defRPr sz="2000"/>
            </a:pPr>
            <a:r>
              <a:t>Gestion sociale : Abonnements, Commentaires, Likes et Stories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Frontend : PWA vs Mobile Natif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PWA (Vite/React) : Accessibilité web rapide et légèreté (SEO, Reach)</a:t>
            </a:r>
          </a:p>
          <a:p>
            <a:pPr>
              <a:defRPr sz="2000"/>
            </a:pPr>
            <a:r>
              <a:t>Application Mobile (Expo) : Expérience native, Caméra, Notifications, Offline</a:t>
            </a:r>
          </a:p>
          <a:p>
            <a:pPr>
              <a:defRPr sz="2000"/>
            </a:pPr>
            <a:r>
              <a:t>Partage de la logique métier et des types entre les deux clients</a:t>
            </a:r>
          </a:p>
          <a:p>
            <a:pPr>
              <a:defRPr sz="2000"/>
            </a:pPr>
            <a:r>
              <a:t>Design System unifié avec Tailwind CSS et composants réutilisables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 l'État et Récupération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TanStack Query (React Query) pour la gestion du cache serveur</a:t>
            </a:r>
          </a:p>
          <a:p>
            <a:pPr>
              <a:defRPr sz="2000"/>
            </a:pPr>
            <a:r>
              <a:t>Zustand pour l'état global léger (Authentification, Thème)</a:t>
            </a:r>
          </a:p>
          <a:p>
            <a:pPr>
              <a:defRPr sz="2000"/>
            </a:pPr>
            <a:r>
              <a:t>Persistance des données locales pour une expérience fluide</a:t>
            </a:r>
          </a:p>
          <a:p>
            <a:pPr>
              <a:defRPr sz="2000"/>
            </a:pPr>
            <a:r>
              <a:t>Optimistic UI pour les interactions sociales (Likes, Commentaires)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en Temps Réel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Intégration de Socket.IO pour la messagerie instantanée</a:t>
            </a:r>
          </a:p>
          <a:p>
            <a:pPr>
              <a:defRPr sz="2000"/>
            </a:pPr>
            <a:r>
              <a:t>Gestion des salons de discussion et présence en ligne</a:t>
            </a:r>
          </a:p>
          <a:p>
            <a:pPr>
              <a:defRPr sz="2000"/>
            </a:pPr>
            <a:r>
              <a:t>Notifications en temps réel pour les activités sociales et commerciales</a:t>
            </a:r>
          </a:p>
          <a:p>
            <a:pPr>
              <a:defRPr sz="2000"/>
            </a:pPr>
            <a:r>
              <a:t>Architecture scalable avec adaptateur Redis pour le multi-instance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Intégration des Services de Paiement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Passerelle multi-paiements : Stripe et solutions locales (Orange Money)</a:t>
            </a:r>
          </a:p>
          <a:p>
            <a:pPr>
              <a:defRPr sz="2000"/>
            </a:pPr>
            <a:r>
              <a:t>Gestion sécurisée des Webhooks pour la validation des transactions</a:t>
            </a:r>
          </a:p>
          <a:p>
            <a:pPr>
              <a:defRPr sz="2000"/>
            </a:pPr>
            <a:r>
              <a:t>Workflow de paiement : Initialisation, Confirmation, Mise à jour du Wallet</a:t>
            </a:r>
          </a:p>
          <a:p>
            <a:pPr>
              <a:defRPr sz="2000"/>
            </a:pPr>
            <a:r>
              <a:t>Sécurisation des transactions et traçabilité financière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Séquence Paiement (Illustration)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103120" cy="640080"/>
          </a:xfrm>
          <a:prstGeom prst="rect">
            <a:avLst/>
          </a:prstGeom>
          <a:solidFill>
            <a:srgbClr val="10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005840"/>
            <a:ext cx="2103120" cy="640080"/>
          </a:xfrm>
          <a:prstGeom prst="rect">
            <a:avLst/>
          </a:prstGeom>
          <a:solidFill>
            <a:srgbClr val="10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API Payments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005840"/>
            <a:ext cx="2103120" cy="640080"/>
          </a:xfrm>
          <a:prstGeom prst="rect">
            <a:avLst/>
          </a:prstGeom>
          <a:solidFill>
            <a:srgbClr val="10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Stripe/Orange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005840"/>
            <a:ext cx="2103120" cy="640080"/>
          </a:xfrm>
          <a:prstGeom prst="rect">
            <a:avLst/>
          </a:prstGeom>
          <a:solidFill>
            <a:srgbClr val="10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Wallet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22960" y="1920240"/>
            <a:ext cx="4480559" cy="320040"/>
          </a:xfrm>
          <a:prstGeom prst="rightArrow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4805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1) Init paiement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66160" y="2468880"/>
            <a:ext cx="4480560" cy="320040"/>
          </a:xfrm>
          <a:prstGeom prst="rightArrow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76272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2) Création intent / transaction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00800" y="3017520"/>
            <a:ext cx="-2194560" cy="320040"/>
          </a:xfrm>
          <a:prstGeom prst="rightArrow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24912"/>
            <a:ext cx="-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3) Webhook de confirmation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57600" y="3566160"/>
            <a:ext cx="6858000" cy="320040"/>
          </a:xfrm>
          <a:prstGeom prst="rightArrow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735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4) MAJ Wallet + statut commande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de Traduction et Intelligence Artificielle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API de traduction intégrée (LibreTranslate / MyMemory)</a:t>
            </a:r>
          </a:p>
          <a:p>
            <a:pPr>
              <a:defRPr sz="2000"/>
            </a:pPr>
            <a:r>
              <a:t>Système de Chatbots pour l'assistance automatisée</a:t>
            </a:r>
          </a:p>
          <a:p>
            <a:pPr>
              <a:defRPr sz="2000"/>
            </a:pPr>
            <a:r>
              <a:t>Pipeline de génération de sous-titres (STT) pour les vidéos</a:t>
            </a:r>
          </a:p>
          <a:p>
            <a:pPr>
              <a:defRPr sz="2000"/>
            </a:pPr>
            <a:r>
              <a:t>Modération automatisée basée sur des règles et listes de contrôle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5303520"/>
            <a:ext cx="4480560" cy="1097280"/>
          </a:xfrm>
          <a:prstGeom prst="roundRect">
            <a:avLst/>
          </a:prstGeom>
          <a:solidFill>
            <a:srgbClr val="E8F0FF"/>
          </a:solidFill>
          <a:ln>
            <a:solidFill>
              <a:srgbClr val="64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142850"/>
                </a:solidFill>
              </a:defRPr>
            </a:pPr>
            <a:r>
              <a:t>Note : certaines briques IA sont en mode progressif / placeholder dans le code.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du Système d'Information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Authentification par Tokens JWT (Access &amp; Refresh Tokens)</a:t>
            </a:r>
          </a:p>
          <a:p>
            <a:pPr>
              <a:defRPr sz="2000"/>
            </a:pPr>
            <a:r>
              <a:t>Protection contre les attaques courantes (XSS, CSRF, Injection SQL via Prisma)</a:t>
            </a:r>
          </a:p>
          <a:p>
            <a:pPr>
              <a:defRPr sz="2000"/>
            </a:pPr>
            <a:r>
              <a:t>Proxy média sécurisé avec liste blanche de domaines</a:t>
            </a:r>
          </a:p>
          <a:p>
            <a:pPr>
              <a:defRPr sz="2000"/>
            </a:pPr>
            <a:r>
              <a:t>Gestion stricte des variables d'environnement et secrets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et Optimisations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Code Splitting et Lazy Loading côté Frontend pour réduire le temps de chargement</a:t>
            </a:r>
          </a:p>
          <a:p>
            <a:pPr>
              <a:defRPr sz="2000"/>
            </a:pPr>
            <a:r>
              <a:t>Compression Gzip/Brotli et mise en cache Redis côté Backend</a:t>
            </a:r>
          </a:p>
          <a:p>
            <a:pPr>
              <a:defRPr sz="2000"/>
            </a:pPr>
            <a:r>
              <a:t>Optimisation des images et streaming vidéo par fragments</a:t>
            </a:r>
          </a:p>
          <a:p>
            <a:pPr>
              <a:defRPr sz="2000"/>
            </a:pPr>
            <a:r>
              <a:t>Surveillance des performances avec Sentry et métriques Prometheus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DevOps et Déploiement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Conteneurisation complète avec Docker et Docker Compose</a:t>
            </a:r>
          </a:p>
          <a:p>
            <a:pPr>
              <a:defRPr sz="2000"/>
            </a:pPr>
            <a:r>
              <a:t>Gestion de 3 réplicas pour le Backend afin d'assurer la haute disponibilité</a:t>
            </a:r>
          </a:p>
          <a:p>
            <a:pPr>
              <a:defRPr sz="2000"/>
            </a:pPr>
            <a:r>
              <a:t>Serveur Nginx utilisé comme Reverse Proxy et gestionnaire TLS (Certbot)</a:t>
            </a:r>
          </a:p>
          <a:p>
            <a:pPr>
              <a:defRPr sz="2000"/>
            </a:pPr>
            <a:r>
              <a:t>Base de données PostgreSQL 15 et cache Redis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Automatisation et Qualité du Code (CI/CD)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GitHub Actions pour l'intégration continue (CI)</a:t>
            </a:r>
          </a:p>
          <a:p>
            <a:pPr>
              <a:defRPr sz="2000"/>
            </a:pPr>
            <a:r>
              <a:t>Vérification automatique de la qualité du code (Lint, Typecheck)</a:t>
            </a:r>
          </a:p>
          <a:p>
            <a:pPr>
              <a:defRPr sz="2000"/>
            </a:pPr>
            <a:r>
              <a:t>Tests unitaires et d'intégration avec Jest et Vitest</a:t>
            </a:r>
          </a:p>
          <a:p>
            <a:pPr>
              <a:defRPr sz="2000"/>
            </a:pPr>
            <a:r>
              <a:t>Contraintes de taille de Pull Request pour maintenir la maintenabilité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CI/CD (Illustration)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2194560"/>
            <a:ext cx="1828800" cy="1005840"/>
          </a:xfrm>
          <a:prstGeom prst="chevron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Push / PR</a:t>
            </a:r>
          </a:p>
        </p:txBody>
      </p:sp>
      <p:sp>
        <p:nvSpPr>
          <p:cNvPr id="4" name="Chevron 3"/>
          <p:cNvSpPr/>
          <p:nvPr/>
        </p:nvSpPr>
        <p:spPr>
          <a:xfrm>
            <a:off x="2286000" y="2194560"/>
            <a:ext cx="1828800" cy="1005840"/>
          </a:xfrm>
          <a:prstGeom prst="chevron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Lint + Typecheck</a:t>
            </a:r>
          </a:p>
        </p:txBody>
      </p:sp>
      <p:sp>
        <p:nvSpPr>
          <p:cNvPr id="5" name="Chevron 4"/>
          <p:cNvSpPr/>
          <p:nvPr/>
        </p:nvSpPr>
        <p:spPr>
          <a:xfrm>
            <a:off x="4114800" y="2194560"/>
            <a:ext cx="1828800" cy="10058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Tests Jest/Vitest</a:t>
            </a:r>
          </a:p>
        </p:txBody>
      </p:sp>
      <p:sp>
        <p:nvSpPr>
          <p:cNvPr id="6" name="Chevron 5"/>
          <p:cNvSpPr/>
          <p:nvPr/>
        </p:nvSpPr>
        <p:spPr>
          <a:xfrm>
            <a:off x="5943600" y="2194560"/>
            <a:ext cx="1828800" cy="1005840"/>
          </a:xfrm>
          <a:prstGeom prst="chevron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Playwright E2E</a:t>
            </a:r>
          </a:p>
        </p:txBody>
      </p:sp>
      <p:sp>
        <p:nvSpPr>
          <p:cNvPr id="7" name="Chevron 6"/>
          <p:cNvSpPr/>
          <p:nvPr/>
        </p:nvSpPr>
        <p:spPr>
          <a:xfrm>
            <a:off x="7772400" y="2194560"/>
            <a:ext cx="1828800" cy="1005840"/>
          </a:xfrm>
          <a:prstGeom prst="chevron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Build Docker</a:t>
            </a:r>
          </a:p>
        </p:txBody>
      </p:sp>
      <p:sp>
        <p:nvSpPr>
          <p:cNvPr id="8" name="Chevron 7"/>
          <p:cNvSpPr/>
          <p:nvPr/>
        </p:nvSpPr>
        <p:spPr>
          <a:xfrm>
            <a:off x="9601200" y="2194560"/>
            <a:ext cx="1828800" cy="1005840"/>
          </a:xfrm>
          <a:prstGeom prst="chevron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Déploiement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Contrôles qualité automatisés :</a:t>
            </a:r>
          </a:p>
          <a:p>
            <a:pPr>
              <a:defRPr sz="1600"/>
            </a:pPr>
            <a:r>
              <a:t>- Budget taille PR</a:t>
            </a:r>
          </a:p>
          <a:p>
            <a:pPr>
              <a:defRPr sz="1600"/>
            </a:pPr>
            <a:r>
              <a:t>- Lint + Typecheck bloquants</a:t>
            </a:r>
          </a:p>
          <a:p>
            <a:pPr>
              <a:defRPr sz="1600"/>
            </a:pPr>
            <a:r>
              <a:t>- Tests unitaires/intégration + E2E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Défis Techniques et Solutions Apportées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Gestion de la complexité d'un schéma Prisma massif</a:t>
            </a:r>
          </a:p>
          <a:p>
            <a:pPr>
              <a:defRPr sz="2000"/>
            </a:pPr>
            <a:r>
              <a:t>Optimisation du lecteur vidéo sous contraintes réseau instables</a:t>
            </a:r>
          </a:p>
          <a:p>
            <a:pPr>
              <a:defRPr sz="2000"/>
            </a:pPr>
            <a:r>
              <a:t>Synchronisation des états d'authentification entre PWA et Mobile</a:t>
            </a:r>
          </a:p>
          <a:p>
            <a:pPr>
              <a:defRPr sz="2000"/>
            </a:pPr>
            <a:r>
              <a:t>Sécurisation du proxy média pour éviter les failles SSRF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Actuelles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Monolithe applicatif pouvant présenter des défis de scalabilité verticale</a:t>
            </a:r>
          </a:p>
          <a:p>
            <a:pPr>
              <a:defRPr sz="2000"/>
            </a:pPr>
            <a:r>
              <a:t>Dépendance forte à certains services tiers pour l'IA et la traduction</a:t>
            </a:r>
          </a:p>
          <a:p>
            <a:pPr>
              <a:defRPr sz="2000"/>
            </a:pPr>
            <a:r>
              <a:t>Parties placeholders pour les fonctions avancées de STT (Speech-to-Text)</a:t>
            </a:r>
          </a:p>
          <a:p>
            <a:pPr>
              <a:defRPr sz="2000"/>
            </a:pPr>
            <a:r>
              <a:t>Volume important du schéma DB ralentissant l'onboarding développeur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Améliorations Futures et Évolutions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Transition vers une architecture microservices pour les domaines critiques</a:t>
            </a:r>
          </a:p>
          <a:p>
            <a:pPr>
              <a:defRPr sz="2000"/>
            </a:pPr>
            <a:r>
              <a:t>Finalisation de l'intégration native des modèles d'IA pour le STT/NLP</a:t>
            </a:r>
          </a:p>
          <a:p>
            <a:pPr>
              <a:defRPr sz="2000"/>
            </a:pPr>
            <a:r>
              <a:t>Renforcement des tests de charge et de montée en charge (Stress Testing)</a:t>
            </a:r>
          </a:p>
          <a:p>
            <a:pPr>
              <a:defRPr sz="2000"/>
            </a:pPr>
            <a:r>
              <a:t>Développement d'un module de "Feature Flags" pour le déploiement progressif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Compétences Acquises et Bilan Personnel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Maîtrise du cycle de vie complet d'une application Full-Stack</a:t>
            </a:r>
          </a:p>
          <a:p>
            <a:pPr>
              <a:defRPr sz="2000"/>
            </a:pPr>
            <a:r>
              <a:t>Expertise en gouvernance des systèmes d’information complexes</a:t>
            </a:r>
          </a:p>
          <a:p>
            <a:pPr>
              <a:defRPr sz="2000"/>
            </a:pPr>
            <a:r>
              <a:t>Capacité à concevoir des architectures scalables et sécurisées</a:t>
            </a:r>
          </a:p>
          <a:p>
            <a:pPr>
              <a:defRPr sz="2000"/>
            </a:pPr>
            <a:r>
              <a:t>Gestion de projet technique sous standards de qualité industrielle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AfriWonder : Une réponse technologique concrète aux besoins du marché africain</a:t>
            </a:r>
          </a:p>
          <a:p>
            <a:pPr>
              <a:defRPr sz="2000"/>
            </a:pPr>
            <a:r>
              <a:t>Un projet d'ingénierie complet alliant innovation et rigueur technique</a:t>
            </a:r>
          </a:p>
          <a:p>
            <a:pPr>
              <a:defRPr sz="2000"/>
            </a:pPr>
            <a:r>
              <a:t>Validation des acquis de la filière MGSI de l'ENSAK</a:t>
            </a:r>
          </a:p>
          <a:p>
            <a:pPr>
              <a:defRPr sz="2000"/>
            </a:pPr>
            <a:r>
              <a:t>Prêt pour une phase d'industrialisation et de mise sur le marché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